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8" r:id="rId3"/>
    <p:sldId id="257" r:id="rId4"/>
    <p:sldId id="281" r:id="rId5"/>
    <p:sldId id="259" r:id="rId6"/>
    <p:sldId id="282" r:id="rId7"/>
    <p:sldId id="284" r:id="rId8"/>
    <p:sldId id="283" r:id="rId9"/>
    <p:sldId id="285" r:id="rId10"/>
    <p:sldId id="286" r:id="rId11"/>
    <p:sldId id="287" r:id="rId12"/>
    <p:sldId id="288" r:id="rId13"/>
    <p:sldId id="291" r:id="rId14"/>
    <p:sldId id="292" r:id="rId15"/>
    <p:sldId id="293" r:id="rId16"/>
    <p:sldId id="294" r:id="rId17"/>
    <p:sldId id="295" r:id="rId18"/>
    <p:sldId id="289" r:id="rId19"/>
    <p:sldId id="296" r:id="rId20"/>
    <p:sldId id="297" r:id="rId21"/>
    <p:sldId id="298" r:id="rId22"/>
    <p:sldId id="299" r:id="rId23"/>
    <p:sldId id="300" r:id="rId24"/>
    <p:sldId id="290" r:id="rId25"/>
    <p:sldId id="301" r:id="rId26"/>
    <p:sldId id="302" r:id="rId27"/>
    <p:sldId id="303" r:id="rId28"/>
    <p:sldId id="279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FFFFFF"/>
    <a:srgbClr val="03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338" autoAdjust="0"/>
    <p:restoredTop sz="94660"/>
  </p:normalViewPr>
  <p:slideViewPr>
    <p:cSldViewPr snapToGrid="0">
      <p:cViewPr varScale="1">
        <p:scale>
          <a:sx n="67" d="100"/>
          <a:sy n="67" d="100"/>
        </p:scale>
        <p:origin x="72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870D1-2918-4862-BF05-54AC3040F8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AAA1-2B6D-44C1-A6CB-927B761BD8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870D1-2918-4862-BF05-54AC3040F8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AAA1-2B6D-44C1-A6CB-927B761BD8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870D1-2918-4862-BF05-54AC3040F8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AAA1-2B6D-44C1-A6CB-927B761BD8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870D1-2918-4862-BF05-54AC3040F8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AAA1-2B6D-44C1-A6CB-927B761BD8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870D1-2918-4862-BF05-54AC3040F8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AAA1-2B6D-44C1-A6CB-927B761BD8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870D1-2918-4862-BF05-54AC3040F8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AAA1-2B6D-44C1-A6CB-927B761BD8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870D1-2918-4862-BF05-54AC3040F8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AAA1-2B6D-44C1-A6CB-927B761BD8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870D1-2918-4862-BF05-54AC3040F8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AAA1-2B6D-44C1-A6CB-927B761BD8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870D1-2918-4862-BF05-54AC3040F8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AAA1-2B6D-44C1-A6CB-927B761BD8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870D1-2918-4862-BF05-54AC3040F8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AAA1-2B6D-44C1-A6CB-927B761BD8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870D1-2918-4862-BF05-54AC3040F8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7AAA1-2B6D-44C1-A6CB-927B761BD8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A9F870D1-2918-4862-BF05-54AC3040F8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28E7AAA1-2B6D-44C1-A6CB-927B761BD88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.xml"/><Relationship Id="rId2" Type="http://schemas.openxmlformats.org/officeDocument/2006/relationships/image" Target="../media/image2.emf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4.emf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emf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4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4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26695" y="441325"/>
            <a:ext cx="1173861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DỰ </a:t>
            </a:r>
            <a:r>
              <a:rPr lang="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</a:t>
            </a:r>
            <a:r>
              <a:rPr lang="en-US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O</a:t>
            </a:r>
            <a:r>
              <a:rPr lang="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Á</a:t>
            </a:r>
            <a:r>
              <a:rPr lang="en-US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 NGHỀ NGHIỆP V</a:t>
            </a:r>
            <a:r>
              <a:rPr lang="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À</a:t>
            </a:r>
            <a:r>
              <a:rPr lang="en-US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MỨC L</a:t>
            </a:r>
            <a:r>
              <a:rPr lang="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ƯƠ</a:t>
            </a:r>
            <a:r>
              <a:rPr lang="en-US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NG CỦA KHOA HỌC DỮ LIỆU N</a:t>
            </a:r>
            <a:r>
              <a:rPr lang="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Ă</a:t>
            </a:r>
            <a:r>
              <a:rPr lang="en-US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 2025</a:t>
            </a:r>
            <a:endParaRPr lang="en-US" altLang="en-US" sz="44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760335" y="5925820"/>
            <a:ext cx="2185035" cy="399415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38100">
            <a:solidFill>
              <a:srgbClr val="333333"/>
            </a:solidFill>
          </a:ln>
        </p:spPr>
        <p:txBody>
          <a:bodyPr wrap="none" rtlCol="0">
            <a:noAutofit/>
          </a:bodyPr>
          <a:lstStyle/>
          <a:p>
            <a:r>
              <a:rPr lang="vi-VN" altLang="en-US" sz="2000" dirty="0">
                <a:solidFill>
                  <a:srgbClr val="03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Môn học: Đồ án </a:t>
            </a:r>
            <a:r>
              <a:rPr lang="vi-VN" altLang="en-US" sz="2000" dirty="0">
                <a:solidFill>
                  <a:srgbClr val="03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vi-VN" altLang="en-US" sz="2000" dirty="0">
              <a:solidFill>
                <a:srgbClr val="03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061485" y="5926418"/>
            <a:ext cx="1423670" cy="398780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38100">
            <a:solidFill>
              <a:srgbClr val="333333"/>
            </a:solidFill>
          </a:ln>
        </p:spPr>
        <p:txBody>
          <a:bodyPr wrap="none" rtlCol="0">
            <a:spAutoFit/>
          </a:bodyPr>
          <a:lstStyle/>
          <a:p>
            <a:r>
              <a:rPr lang="vi-VN" altLang="en-US" sz="2000" dirty="0">
                <a:solidFill>
                  <a:srgbClr val="03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Năm: </a:t>
            </a:r>
            <a:r>
              <a:rPr lang="vi-VN" altLang="en-US" sz="2000" dirty="0">
                <a:solidFill>
                  <a:srgbClr val="03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2025</a:t>
            </a:r>
            <a:endParaRPr lang="vi-VN" altLang="en-US" sz="2000" dirty="0">
              <a:solidFill>
                <a:srgbClr val="03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连接符 6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5689153" y="5698298"/>
            <a:ext cx="5796000" cy="2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89" y="2260371"/>
            <a:ext cx="3924981" cy="3562768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5688965" y="2482215"/>
            <a:ext cx="5796280" cy="3121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Bộ dữ liệu này </a:t>
            </a:r>
            <a:r>
              <a:rPr lang="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đư</a:t>
            </a:r>
            <a:r>
              <a:rPr lang="en-US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ợc thiết kế </a:t>
            </a:r>
            <a:r>
              <a:rPr lang="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</a:t>
            </a:r>
            <a:r>
              <a:rPr lang="en-US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ể giúp các nhà nghiên cứu, sinh viên và chuyên gia phân tích xu h</a:t>
            </a:r>
            <a:r>
              <a:rPr lang="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ư</a:t>
            </a:r>
            <a:r>
              <a:rPr lang="en-US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ớng tuyển dụng, mức l</a:t>
            </a:r>
            <a:r>
              <a:rPr lang="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ư</a:t>
            </a:r>
            <a:r>
              <a:rPr lang="en-US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ơng và các kỹ n</a:t>
            </a:r>
            <a:r>
              <a:rPr lang="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ă</a:t>
            </a:r>
            <a:r>
              <a:rPr lang="en-US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ng </a:t>
            </a:r>
            <a:r>
              <a:rPr lang="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</a:t>
            </a:r>
            <a:r>
              <a:rPr lang="en-US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ang </a:t>
            </a:r>
            <a:r>
              <a:rPr lang="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đư</a:t>
            </a:r>
            <a:r>
              <a:rPr lang="en-US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ợc s</a:t>
            </a:r>
            <a:r>
              <a:rPr lang="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ă</a:t>
            </a:r>
            <a:r>
              <a:rPr lang="en-US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 </a:t>
            </a:r>
            <a:r>
              <a:rPr lang="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</a:t>
            </a:r>
            <a:r>
              <a:rPr lang="en-US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ón trong thị tr</a:t>
            </a:r>
            <a:r>
              <a:rPr lang="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ư</a:t>
            </a:r>
            <a:r>
              <a:rPr lang="en-US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ờng việc làm Khoa học Dữ liệu. Bộ dữ liệu này c</a:t>
            </a:r>
            <a:r>
              <a:rPr lang="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ũ</a:t>
            </a:r>
            <a:r>
              <a:rPr lang="en-US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ng có thể hỗ trợ các dự án về học máy, dự </a:t>
            </a:r>
            <a:r>
              <a:rPr lang="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</a:t>
            </a:r>
            <a:r>
              <a:rPr lang="en-US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oán nghề nghiệp, dự báo l</a:t>
            </a:r>
            <a:r>
              <a:rPr lang="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ư</a:t>
            </a:r>
            <a:r>
              <a:rPr lang="en-US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ơng và phân tích lực l</a:t>
            </a:r>
            <a:r>
              <a:rPr lang="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ư</a:t>
            </a:r>
            <a:r>
              <a:rPr lang="en-US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ợng lao </a:t>
            </a:r>
            <a:r>
              <a:rPr lang="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</a:t>
            </a:r>
            <a:r>
              <a:rPr lang="en-US" altLang="en-US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ộng.</a:t>
            </a:r>
            <a:endParaRPr lang="en-US" altLang="en-US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712" y="1106590"/>
            <a:ext cx="4643692" cy="4643815"/>
          </a:xfrm>
          <a:prstGeom prst="rect">
            <a:avLst/>
          </a:prstGeom>
        </p:spPr>
      </p:pic>
      <p:sp>
        <p:nvSpPr>
          <p:cNvPr id="10" name="文本框 9" descr="e7d195523061f1c0deeec63e560781cfd59afb0ea006f2a87ABB68BF51EA6619813959095094C18C62A12F549504892A4AAA8C1554C6663626E05CA27F281A14E6983772AFC3FB97135759321DEA3D704CB8FFD9D2544D20427D00997056F5C96BEB36E87B176A9A2B0208D5F0253CAA64F289E16775627845AD05F6A8DA43D217D906D92F737DD9"/>
          <p:cNvSpPr txBox="1"/>
          <p:nvPr/>
        </p:nvSpPr>
        <p:spPr>
          <a:xfrm>
            <a:off x="206375" y="3371215"/>
            <a:ext cx="4496435" cy="11988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vi-VN" altLang="en-US" sz="3600" b="1" dirty="0" smtClean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NỘI </a:t>
            </a:r>
            <a:r>
              <a:rPr lang="vi-VN" altLang="en-US" sz="3600" b="1" dirty="0" smtClean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DUNG</a:t>
            </a:r>
            <a:endParaRPr lang="vi-VN" altLang="en-US" sz="3600" b="1" dirty="0" smtClean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vi-VN" altLang="en-US" sz="3600" b="1" dirty="0" smtClean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CHÍNH</a:t>
            </a:r>
            <a:endParaRPr lang="vi-VN" altLang="en-US" sz="3600" b="1" dirty="0" smtClean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5595620" y="876935"/>
            <a:ext cx="614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MÔ TẢ B</a:t>
            </a:r>
            <a:r>
              <a:rPr lang="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À</a:t>
            </a:r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 TO</a:t>
            </a:r>
            <a:r>
              <a:rPr lang="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Á</a:t>
            </a:r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 V</a:t>
            </a:r>
            <a:r>
              <a:rPr lang="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À</a:t>
            </a:r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DỮ LIỆU</a:t>
            </a:r>
            <a:endParaRPr lang="en-US" altLang="en-US" sz="24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5595620" y="2028190"/>
            <a:ext cx="614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</a:t>
            </a:r>
            <a:r>
              <a:rPr lang="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Ơ</a:t>
            </a:r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SỞ L</a:t>
            </a:r>
            <a:r>
              <a:rPr lang="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Ý</a:t>
            </a:r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THUYẾT</a:t>
            </a:r>
            <a:endParaRPr lang="en-US" altLang="en-US" sz="24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4"/>
            </p:custDataLst>
          </p:nvPr>
        </p:nvSpPr>
        <p:spPr>
          <a:xfrm>
            <a:off x="5594985" y="3242945"/>
            <a:ext cx="61474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THỐNG K</a:t>
            </a:r>
            <a:r>
              <a:rPr lang="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Ê</a:t>
            </a:r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MÔ TẢ V</a:t>
            </a:r>
            <a:r>
              <a:rPr lang="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À</a:t>
            </a:r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TRỰC QUAN H</a:t>
            </a:r>
            <a:r>
              <a:rPr lang="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Ó</a:t>
            </a:r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</a:t>
            </a:r>
            <a:endParaRPr lang="en-US" altLang="en-US" sz="24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5595620" y="5481955"/>
            <a:ext cx="614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ĐÊ</a:t>
            </a:r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̀ XU</a:t>
            </a:r>
            <a:r>
              <a:rPr lang="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Â</a:t>
            </a:r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́T</a:t>
            </a:r>
            <a:endParaRPr lang="en-US" altLang="zh-CN" sz="24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文本框 22"/>
          <p:cNvSpPr txBox="1"/>
          <p:nvPr>
            <p:custDataLst>
              <p:tags r:id="rId6"/>
            </p:custDataLst>
          </p:nvPr>
        </p:nvSpPr>
        <p:spPr>
          <a:xfrm>
            <a:off x="5595620" y="4330700"/>
            <a:ext cx="614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PH</a:t>
            </a:r>
            <a:r>
              <a:rPr lang="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Â</a:t>
            </a:r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 T</a:t>
            </a:r>
            <a:r>
              <a:rPr lang="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Í</a:t>
            </a:r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 DỰ </a:t>
            </a:r>
            <a:r>
              <a:rPr lang="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</a:t>
            </a:r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O</a:t>
            </a:r>
            <a:r>
              <a:rPr lang="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Á</a:t>
            </a:r>
            <a:r>
              <a:rPr lang="en-US" alt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</a:t>
            </a:r>
            <a:endParaRPr lang="en-US" altLang="zh-CN" sz="24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7" name="直接连接符 14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>
            <p:custDataLst>
              <p:tags r:id="rId7"/>
            </p:custDataLst>
          </p:nvPr>
        </p:nvCxnSpPr>
        <p:spPr>
          <a:xfrm flipH="1">
            <a:off x="5594850" y="3985440"/>
            <a:ext cx="6147435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4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>
            <p:custDataLst>
              <p:tags r:id="rId8"/>
            </p:custDataLst>
          </p:nvPr>
        </p:nvCxnSpPr>
        <p:spPr>
          <a:xfrm flipH="1">
            <a:off x="5594850" y="2834185"/>
            <a:ext cx="6147435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4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>
            <p:custDataLst>
              <p:tags r:id="rId9"/>
            </p:custDataLst>
          </p:nvPr>
        </p:nvCxnSpPr>
        <p:spPr>
          <a:xfrm flipH="1">
            <a:off x="5594850" y="1682930"/>
            <a:ext cx="6147435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4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>
            <p:custDataLst>
              <p:tags r:id="rId10"/>
            </p:custDataLst>
          </p:nvPr>
        </p:nvCxnSpPr>
        <p:spPr>
          <a:xfrm flipH="1">
            <a:off x="5594850" y="5136695"/>
            <a:ext cx="6147435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14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>
            <p:custDataLst>
              <p:tags r:id="rId11"/>
            </p:custDataLst>
          </p:nvPr>
        </p:nvCxnSpPr>
        <p:spPr>
          <a:xfrm flipH="1">
            <a:off x="5594850" y="6287950"/>
            <a:ext cx="6147435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19"/>
          <p:cNvSpPr txBox="1"/>
          <p:nvPr>
            <p:custDataLst>
              <p:tags r:id="rId12"/>
            </p:custDataLst>
          </p:nvPr>
        </p:nvSpPr>
        <p:spPr>
          <a:xfrm>
            <a:off x="5165090" y="880745"/>
            <a:ext cx="430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32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1</a:t>
            </a:r>
            <a:endParaRPr lang="vi-VN" altLang="en-US" sz="32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0" name="文本框 19"/>
          <p:cNvSpPr txBox="1"/>
          <p:nvPr>
            <p:custDataLst>
              <p:tags r:id="rId13"/>
            </p:custDataLst>
          </p:nvPr>
        </p:nvSpPr>
        <p:spPr>
          <a:xfrm>
            <a:off x="5165090" y="1966595"/>
            <a:ext cx="430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32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2</a:t>
            </a:r>
            <a:endParaRPr lang="vi-VN" altLang="en-US" sz="32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1" name="文本框 19"/>
          <p:cNvSpPr txBox="1"/>
          <p:nvPr>
            <p:custDataLst>
              <p:tags r:id="rId14"/>
            </p:custDataLst>
          </p:nvPr>
        </p:nvSpPr>
        <p:spPr>
          <a:xfrm>
            <a:off x="5165090" y="3117850"/>
            <a:ext cx="430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32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</a:t>
            </a:r>
            <a:endParaRPr lang="vi-VN" altLang="en-US" sz="32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2" name="文本框 19"/>
          <p:cNvSpPr txBox="1"/>
          <p:nvPr>
            <p:custDataLst>
              <p:tags r:id="rId15"/>
            </p:custDataLst>
          </p:nvPr>
        </p:nvSpPr>
        <p:spPr>
          <a:xfrm>
            <a:off x="5165090" y="4269105"/>
            <a:ext cx="430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32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4</a:t>
            </a:r>
            <a:endParaRPr lang="vi-VN" altLang="en-US" sz="32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3" name="文本框 19"/>
          <p:cNvSpPr txBox="1"/>
          <p:nvPr>
            <p:custDataLst>
              <p:tags r:id="rId16"/>
            </p:custDataLst>
          </p:nvPr>
        </p:nvSpPr>
        <p:spPr>
          <a:xfrm>
            <a:off x="5165090" y="5420360"/>
            <a:ext cx="430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32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5</a:t>
            </a:r>
            <a:endParaRPr lang="vi-VN" altLang="en-US" sz="32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5151" y="1810023"/>
            <a:ext cx="4366124" cy="436624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0947" y="583943"/>
            <a:ext cx="1176464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1 </a:t>
            </a:r>
            <a:r>
              <a:rPr lang="en-US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MÔ TẢ B</a:t>
            </a:r>
            <a:r>
              <a:rPr lang="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À</a:t>
            </a:r>
            <a:r>
              <a:rPr lang="en-US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 TO</a:t>
            </a:r>
            <a:r>
              <a:rPr lang="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Á</a:t>
            </a:r>
            <a:r>
              <a:rPr lang="en-US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 V</a:t>
            </a:r>
            <a:r>
              <a:rPr lang="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À</a:t>
            </a:r>
            <a:r>
              <a:rPr lang="en-US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DỮ LIỆU</a:t>
            </a:r>
            <a:endParaRPr lang="en-US" altLang="en-US" sz="60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424" y="787453"/>
            <a:ext cx="3600000" cy="2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3599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Mô tả về </a:t>
            </a:r>
            <a:r>
              <a:rPr lang="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</a:t>
            </a:r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ề tài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14935" y="991235"/>
            <a:ext cx="5981065" cy="4399915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Đề tài: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Dự đoán nghề nghiệp và mức lương của Khoa học dữ liệu năm 2025.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Nguồn dữ liệu: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Kaggle - Data Science Careers &amp; Salaries 2025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Tóm tắt về Bộ Dữ liệu Khoa học Dữ liệu 202</a:t>
            </a:r>
            <a:r>
              <a:rPr lang="vi-VN" altLang="en-US" sz="2000">
                <a:latin typeface="Times New Roman" panose="02020603050405020304" charset="0"/>
                <a:cs typeface="Times New Roman" panose="02020603050405020304" charset="0"/>
              </a:rPr>
              <a:t>5: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fontAlgn="base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Bộ dữ liệu này thu thập thông tin từ các bài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 tuyển dụng công khai liên quan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ến Khoa học Dữ liệu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m 2025, bao gồm chức danh, cấp bậc, thông tin công ty,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ịa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iểm, mức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ơng và kỹ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 cần thiết.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6365240" y="0"/>
            <a:ext cx="5826760" cy="6868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424" y="787453"/>
            <a:ext cx="3600000" cy="2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3599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Các cột dữ liệu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4935" y="991235"/>
            <a:ext cx="487426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Bộ dữ liệu bao gồm 13 cột thông tin chính: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114935" y="1593850"/>
            <a:ext cx="5812155" cy="409257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job_title: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Chức danh công việc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seniority_level: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Mức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ộ thâm niên của vai trò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status: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Loại công việc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company: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Tên công ty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location: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ịa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iểm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 tin tuyển dụng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post_date: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Ngày hoặc giờ kể từ khi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Headquarters: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Trụ sở công ty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6102985" y="1687830"/>
            <a:ext cx="5632450" cy="40925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Industry: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lĩnh vực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ownership: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Loại hình công ty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company_size: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Số lượng nhân viên trong công ty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Revenue: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Doanh thu hàng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m của công ty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salary: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Chi tiết mức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ơng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skills: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Kỹ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ng bắt buộc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5974715" y="1390015"/>
            <a:ext cx="0" cy="439039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16907" y="583943"/>
            <a:ext cx="783272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2 </a:t>
            </a:r>
            <a:r>
              <a:rPr lang="en-US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</a:t>
            </a:r>
            <a:r>
              <a:rPr lang="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Ơ</a:t>
            </a:r>
            <a:r>
              <a:rPr lang="en-US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SỞ L</a:t>
            </a:r>
            <a:r>
              <a:rPr lang="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Ý</a:t>
            </a:r>
            <a:r>
              <a:rPr lang="en-US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THUYẾT</a:t>
            </a:r>
            <a:endParaRPr lang="en-US" altLang="en-US" sz="60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0206" y="1967502"/>
            <a:ext cx="4366125" cy="43662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609" y="787453"/>
            <a:ext cx="6059170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601091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Thuật toán Random Forest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4300" y="991235"/>
            <a:ext cx="6086475" cy="4030980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Thuật toán hoạt </a:t>
            </a:r>
            <a:r>
              <a:rPr lang="" altLang="en-US" sz="2000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ộng theo bốn b</a:t>
            </a:r>
            <a:r>
              <a:rPr lang="" altLang="en-US" sz="20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ớc: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" altLang="en-US" sz="20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ớc 1: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Chọn các mẫu ngẫu nhiên từ tập dữ liệu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ã cho.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" altLang="en-US" sz="20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ớc 2: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Thiết lập cây quyết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ịnh cho từng mẫu và nhận kết quả dự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oán từ mỗi quyết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ịnh cây.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" altLang="en-US" sz="20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ớc 3: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Hãy bỏ phiếu cho mỗi kết quả dự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oán.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" altLang="en-US" sz="20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ớc 4: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Chọn kết quả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ợc dự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oán nhiều nhất là dự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oán cuối cùng.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3" name="Picture 2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775" y="1538605"/>
            <a:ext cx="5752465" cy="44443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609" y="787453"/>
            <a:ext cx="6059170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601091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Thuật toán Random Forest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4300" y="991235"/>
            <a:ext cx="5982335" cy="699135"/>
          </a:xfrm>
          <a:prstGeom prst="rect">
            <a:avLst/>
          </a:prstGeom>
        </p:spPr>
        <p:txBody>
          <a:bodyPr wrap="square">
            <a:noAutofit/>
          </a:bodyPr>
          <a:p>
            <a:pPr algn="ctr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" altLang="en-US" sz="24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vi-VN" altLang="en-US" sz="2400" b="1">
                <a:latin typeface="Times New Roman" panose="02020603050405020304" charset="0"/>
                <a:cs typeface="Times New Roman" panose="02020603050405020304" charset="0"/>
              </a:rPr>
              <a:t>U ĐIỂM</a:t>
            </a:r>
            <a:endParaRPr lang="vi-VN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4300" y="1763395"/>
            <a:ext cx="5982335" cy="44043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l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Giảm Overfitting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Độ Chính xác cao (Do Ensemble)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Xử lý Dữ liệu lớn và nhiều đặc trưng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Không cần Chuẩn hóa dữ liệu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Đo lường Tầm quan trọng của đặc trưng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Chống Nhiễu và Outliers tốt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Xử lý được Dữ liệu thiếu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096635" y="991235"/>
            <a:ext cx="5982335" cy="698500"/>
          </a:xfrm>
          <a:prstGeom prst="rect">
            <a:avLst/>
          </a:prstGeom>
        </p:spPr>
        <p:txBody>
          <a:bodyPr wrap="square">
            <a:noAutofit/>
          </a:bodyPr>
          <a:p>
            <a:pPr algn="ctr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vi-VN" altLang="en-US" sz="2400" b="1">
                <a:latin typeface="Times New Roman" panose="02020603050405020304" charset="0"/>
                <a:cs typeface="Times New Roman" panose="02020603050405020304" charset="0"/>
              </a:rPr>
              <a:t>NHƯỢC ĐIỂM</a:t>
            </a:r>
            <a:endParaRPr lang="vi-VN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6096635" y="1536065"/>
            <a:ext cx="0" cy="491363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/>
        </p:nvSpPr>
        <p:spPr>
          <a:xfrm>
            <a:off x="6209665" y="1689735"/>
            <a:ext cx="5869305" cy="44780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Chi phí Tính toán cao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Khó Giải thích (Mô hình "Hộp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en")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Kích th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ớc Mô hình lớn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Tốc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ộ Dự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oán chậm (với số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ợng cây lớn)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Kém hiệu quả hơn Boosting (trong một số tr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ờng hợp)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Xử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ý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kém với dữ liệu mất cân bằng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609" y="787453"/>
            <a:ext cx="4614545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4704715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Thuật toán </a:t>
            </a:r>
            <a:r>
              <a:rPr lang="vi-VN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XGBoost</a:t>
            </a:r>
            <a:endParaRPr lang="vi-VN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4300" y="991235"/>
            <a:ext cx="6086475" cy="4707890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Thuật toán hoạt 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ộng theo bốn b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ớc: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" altLang="en-US" sz="20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ớc 1: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Khởi tạo Dự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oán ban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ầu (F0) và tính toán Lỗi (Residuals) của dự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oán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ó.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" altLang="en-US" sz="20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ớc 2: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Thiết lập một Cây Quyết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ịnh Mới (h1)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ể học cách dự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oán chính xác Lỗi từ b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ớc tr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ớc.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" altLang="en-US" sz="20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ớc 3:</a:t>
            </a:r>
            <a:r>
              <a:rPr lang="vi-VN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Cập nhật mô hình tổng thể: Cộng cây mới (h1) vào mô hình c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ũ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, có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iều chỉnh bằng Tốc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ộ học (n).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" altLang="en-US" sz="20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ớc 4: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Lặp lại B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ớc 2 và 3 liên tục (N times) cho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ến khi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ạt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ợc Mô hình T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 c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ờng Cuối cùng (FN).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8" descr="Flow-chart-of-XGBoost-Algorith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990" y="1932305"/>
            <a:ext cx="5718175" cy="3142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609" y="787453"/>
            <a:ext cx="6059170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601091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Thuật toán Random Forest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4300" y="991235"/>
            <a:ext cx="5982335" cy="699135"/>
          </a:xfrm>
          <a:prstGeom prst="rect">
            <a:avLst/>
          </a:prstGeom>
        </p:spPr>
        <p:txBody>
          <a:bodyPr wrap="square">
            <a:noAutofit/>
          </a:bodyPr>
          <a:p>
            <a:pPr algn="ctr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vi-VN" altLang="en-US" sz="2400" b="1">
                <a:latin typeface="Times New Roman" panose="02020603050405020304" charset="0"/>
                <a:cs typeface="Times New Roman" panose="02020603050405020304" charset="0"/>
              </a:rPr>
              <a:t>U ĐIỂM</a:t>
            </a:r>
            <a:endParaRPr lang="vi-VN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4300" y="1763395"/>
            <a:ext cx="5982335" cy="44043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l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ộ Chính xác cao và Hiệu suất hàng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ầu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l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Tốc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ộ xử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ý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nhanh (Tận dụng tính toán song song)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l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Kiểm soát Overfitting mạnh mẽ (Tích hợp chuẩn hóa L1 &amp; L2)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l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Xử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ý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Dữ liệu thiếu tự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ộng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l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Linh hoạt (Hỗ trợ nhiều loại Loss Function)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l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o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ờng Tầm quan trọng của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ặc tr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ng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096635" y="991235"/>
            <a:ext cx="5982335" cy="698500"/>
          </a:xfrm>
          <a:prstGeom prst="rect">
            <a:avLst/>
          </a:prstGeom>
        </p:spPr>
        <p:txBody>
          <a:bodyPr wrap="square">
            <a:noAutofit/>
          </a:bodyPr>
          <a:p>
            <a:pPr algn="ctr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vi-VN" altLang="en-US" sz="2400" b="1">
                <a:latin typeface="Times New Roman" panose="02020603050405020304" charset="0"/>
                <a:cs typeface="Times New Roman" panose="02020603050405020304" charset="0"/>
              </a:rPr>
              <a:t>NHƯỢC ĐIỂM</a:t>
            </a:r>
            <a:endParaRPr lang="vi-VN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6096635" y="1536065"/>
            <a:ext cx="0" cy="491363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/>
        </p:nvSpPr>
        <p:spPr>
          <a:xfrm>
            <a:off x="6209665" y="1689735"/>
            <a:ext cx="5869305" cy="44780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Chi phí Tính toán và Bộ nhớ lớn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Khó tinh chỉnh tham số (Hyperparameter Tuning)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Khả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ng Giải thích thấp (Mô hình "Hộp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en")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Nhạy cảm với Outliers (Có thể dẫn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ến Overfitting)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8110" y="583943"/>
            <a:ext cx="1145032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 </a:t>
            </a:r>
            <a:r>
              <a:rPr lang="en-US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THỐNG K</a:t>
            </a:r>
            <a:r>
              <a:rPr lang="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Ê</a:t>
            </a:r>
            <a:r>
              <a:rPr lang="en-US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MÔ TẢ V</a:t>
            </a:r>
            <a:r>
              <a:rPr lang="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À</a:t>
            </a:r>
            <a:r>
              <a:rPr lang="en-US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TRỰC QUAN H</a:t>
            </a:r>
            <a:r>
              <a:rPr lang="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Ó</a:t>
            </a:r>
            <a:r>
              <a:rPr lang="en-US" altLang="en-US" sz="4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</a:t>
            </a:r>
            <a:endParaRPr lang="en-US" altLang="en-US" sz="44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8181" y="1812322"/>
            <a:ext cx="4370176" cy="43702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609" y="787453"/>
            <a:ext cx="6497320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648208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Hàm hỗ trợ tiền xử l</a:t>
            </a:r>
            <a:r>
              <a:rPr lang="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ý</a:t>
            </a:r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dữ liệu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4300" y="991235"/>
            <a:ext cx="5981700" cy="5662295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clean_money_general(self, s):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Chức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 này xử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các giá trị tiền tệ hoặc kích th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ớc công ty hỗn tạp.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Nó loại bỏ các k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hiệu không phải số nh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$ hoặc € và các dấu phẩy.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Logic quan trọng là xử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các hậu tố viết tắt nh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K (nghìn), M (triệu), B (tỷ) bằng cách nhân với hệ số thích hợp.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Nếu giá trị là một khoảng (ví dụ: "100k-120k"), nó tính giá trị trung bình của khoảng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ó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ể tạo ra một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iểm dữ liệu duy nhất.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Mục tiêu cuối cùng là chuyển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ổi dữ liệu thành một số thực (float) duy nhất.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285" y="991235"/>
            <a:ext cx="5194300" cy="5622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609" y="787453"/>
            <a:ext cx="5193030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5222875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Tải và làm sạch dữ liệu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" name="Freeform 44"/>
          <p:cNvSpPr/>
          <p:nvPr/>
        </p:nvSpPr>
        <p:spPr bwMode="auto">
          <a:xfrm>
            <a:off x="6946827" y="2989578"/>
            <a:ext cx="609906" cy="503836"/>
          </a:xfrm>
          <a:custGeom>
            <a:avLst/>
            <a:gdLst>
              <a:gd name="T0" fmla="*/ 161 w 161"/>
              <a:gd name="T1" fmla="*/ 122 h 133"/>
              <a:gd name="T2" fmla="*/ 144 w 161"/>
              <a:gd name="T3" fmla="*/ 133 h 133"/>
              <a:gd name="T4" fmla="*/ 36 w 161"/>
              <a:gd name="T5" fmla="*/ 34 h 133"/>
              <a:gd name="T6" fmla="*/ 28 w 161"/>
              <a:gd name="T7" fmla="*/ 50 h 133"/>
              <a:gd name="T8" fmla="*/ 0 w 161"/>
              <a:gd name="T9" fmla="*/ 3 h 133"/>
              <a:gd name="T10" fmla="*/ 54 w 161"/>
              <a:gd name="T11" fmla="*/ 0 h 133"/>
              <a:gd name="T12" fmla="*/ 45 w 161"/>
              <a:gd name="T13" fmla="*/ 16 h 133"/>
              <a:gd name="T14" fmla="*/ 161 w 161"/>
              <a:gd name="T15" fmla="*/ 122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" h="133">
                <a:moveTo>
                  <a:pt x="161" y="122"/>
                </a:moveTo>
                <a:cubicBezTo>
                  <a:pt x="144" y="133"/>
                  <a:pt x="144" y="133"/>
                  <a:pt x="144" y="133"/>
                </a:cubicBezTo>
                <a:cubicBezTo>
                  <a:pt x="118" y="95"/>
                  <a:pt x="81" y="61"/>
                  <a:pt x="36" y="34"/>
                </a:cubicBezTo>
                <a:cubicBezTo>
                  <a:pt x="28" y="50"/>
                  <a:pt x="28" y="50"/>
                  <a:pt x="28" y="50"/>
                </a:cubicBezTo>
                <a:cubicBezTo>
                  <a:pt x="0" y="3"/>
                  <a:pt x="0" y="3"/>
                  <a:pt x="0" y="3"/>
                </a:cubicBezTo>
                <a:cubicBezTo>
                  <a:pt x="54" y="0"/>
                  <a:pt x="54" y="0"/>
                  <a:pt x="54" y="0"/>
                </a:cubicBezTo>
                <a:cubicBezTo>
                  <a:pt x="45" y="16"/>
                  <a:pt x="45" y="16"/>
                  <a:pt x="45" y="16"/>
                </a:cubicBezTo>
                <a:cubicBezTo>
                  <a:pt x="94" y="45"/>
                  <a:pt x="133" y="81"/>
                  <a:pt x="161" y="122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Freeform 61"/>
          <p:cNvSpPr/>
          <p:nvPr/>
        </p:nvSpPr>
        <p:spPr bwMode="auto">
          <a:xfrm>
            <a:off x="6621038" y="4777627"/>
            <a:ext cx="636424" cy="337153"/>
          </a:xfrm>
          <a:custGeom>
            <a:avLst/>
            <a:gdLst>
              <a:gd name="T0" fmla="*/ 168 w 168"/>
              <a:gd name="T1" fmla="*/ 0 h 89"/>
              <a:gd name="T2" fmla="*/ 145 w 168"/>
              <a:gd name="T3" fmla="*/ 50 h 89"/>
              <a:gd name="T4" fmla="*/ 135 w 168"/>
              <a:gd name="T5" fmla="*/ 35 h 89"/>
              <a:gd name="T6" fmla="*/ 5 w 168"/>
              <a:gd name="T7" fmla="*/ 89 h 89"/>
              <a:gd name="T8" fmla="*/ 0 w 168"/>
              <a:gd name="T9" fmla="*/ 70 h 89"/>
              <a:gd name="T10" fmla="*/ 124 w 168"/>
              <a:gd name="T11" fmla="*/ 19 h 89"/>
              <a:gd name="T12" fmla="*/ 114 w 168"/>
              <a:gd name="T13" fmla="*/ 4 h 89"/>
              <a:gd name="T14" fmla="*/ 168 w 168"/>
              <a:gd name="T15" fmla="*/ 0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8" h="89">
                <a:moveTo>
                  <a:pt x="168" y="0"/>
                </a:moveTo>
                <a:cubicBezTo>
                  <a:pt x="145" y="50"/>
                  <a:pt x="145" y="50"/>
                  <a:pt x="145" y="50"/>
                </a:cubicBezTo>
                <a:cubicBezTo>
                  <a:pt x="135" y="35"/>
                  <a:pt x="135" y="35"/>
                  <a:pt x="135" y="35"/>
                </a:cubicBezTo>
                <a:cubicBezTo>
                  <a:pt x="96" y="59"/>
                  <a:pt x="53" y="77"/>
                  <a:pt x="5" y="89"/>
                </a:cubicBezTo>
                <a:cubicBezTo>
                  <a:pt x="0" y="70"/>
                  <a:pt x="0" y="70"/>
                  <a:pt x="0" y="70"/>
                </a:cubicBezTo>
                <a:cubicBezTo>
                  <a:pt x="45" y="58"/>
                  <a:pt x="87" y="41"/>
                  <a:pt x="124" y="19"/>
                </a:cubicBezTo>
                <a:cubicBezTo>
                  <a:pt x="114" y="4"/>
                  <a:pt x="114" y="4"/>
                  <a:pt x="114" y="4"/>
                </a:cubicBezTo>
                <a:lnTo>
                  <a:pt x="168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Freeform 62"/>
          <p:cNvSpPr/>
          <p:nvPr/>
        </p:nvSpPr>
        <p:spPr bwMode="auto">
          <a:xfrm>
            <a:off x="4685249" y="4474567"/>
            <a:ext cx="609906" cy="503836"/>
          </a:xfrm>
          <a:custGeom>
            <a:avLst/>
            <a:gdLst>
              <a:gd name="T0" fmla="*/ 107 w 161"/>
              <a:gd name="T1" fmla="*/ 133 h 133"/>
              <a:gd name="T2" fmla="*/ 116 w 161"/>
              <a:gd name="T3" fmla="*/ 117 h 133"/>
              <a:gd name="T4" fmla="*/ 0 w 161"/>
              <a:gd name="T5" fmla="*/ 11 h 133"/>
              <a:gd name="T6" fmla="*/ 17 w 161"/>
              <a:gd name="T7" fmla="*/ 0 h 133"/>
              <a:gd name="T8" fmla="*/ 125 w 161"/>
              <a:gd name="T9" fmla="*/ 99 h 133"/>
              <a:gd name="T10" fmla="*/ 133 w 161"/>
              <a:gd name="T11" fmla="*/ 84 h 133"/>
              <a:gd name="T12" fmla="*/ 161 w 161"/>
              <a:gd name="T13" fmla="*/ 130 h 133"/>
              <a:gd name="T14" fmla="*/ 107 w 161"/>
              <a:gd name="T15" fmla="*/ 133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" h="133">
                <a:moveTo>
                  <a:pt x="107" y="133"/>
                </a:moveTo>
                <a:cubicBezTo>
                  <a:pt x="116" y="117"/>
                  <a:pt x="116" y="117"/>
                  <a:pt x="116" y="117"/>
                </a:cubicBezTo>
                <a:cubicBezTo>
                  <a:pt x="67" y="89"/>
                  <a:pt x="28" y="52"/>
                  <a:pt x="0" y="11"/>
                </a:cubicBezTo>
                <a:cubicBezTo>
                  <a:pt x="17" y="0"/>
                  <a:pt x="17" y="0"/>
                  <a:pt x="17" y="0"/>
                </a:cubicBezTo>
                <a:cubicBezTo>
                  <a:pt x="43" y="38"/>
                  <a:pt x="80" y="72"/>
                  <a:pt x="125" y="99"/>
                </a:cubicBezTo>
                <a:cubicBezTo>
                  <a:pt x="133" y="84"/>
                  <a:pt x="133" y="84"/>
                  <a:pt x="133" y="84"/>
                </a:cubicBezTo>
                <a:cubicBezTo>
                  <a:pt x="161" y="130"/>
                  <a:pt x="161" y="130"/>
                  <a:pt x="161" y="130"/>
                </a:cubicBezTo>
                <a:lnTo>
                  <a:pt x="107" y="133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Freeform 63"/>
          <p:cNvSpPr/>
          <p:nvPr/>
        </p:nvSpPr>
        <p:spPr bwMode="auto">
          <a:xfrm>
            <a:off x="4992095" y="2853200"/>
            <a:ext cx="628848" cy="333365"/>
          </a:xfrm>
          <a:custGeom>
            <a:avLst/>
            <a:gdLst>
              <a:gd name="T0" fmla="*/ 44 w 166"/>
              <a:gd name="T1" fmla="*/ 70 h 88"/>
              <a:gd name="T2" fmla="*/ 54 w 166"/>
              <a:gd name="T3" fmla="*/ 84 h 88"/>
              <a:gd name="T4" fmla="*/ 0 w 166"/>
              <a:gd name="T5" fmla="*/ 88 h 88"/>
              <a:gd name="T6" fmla="*/ 23 w 166"/>
              <a:gd name="T7" fmla="*/ 38 h 88"/>
              <a:gd name="T8" fmla="*/ 33 w 166"/>
              <a:gd name="T9" fmla="*/ 53 h 88"/>
              <a:gd name="T10" fmla="*/ 161 w 166"/>
              <a:gd name="T11" fmla="*/ 0 h 88"/>
              <a:gd name="T12" fmla="*/ 166 w 166"/>
              <a:gd name="T13" fmla="*/ 20 h 88"/>
              <a:gd name="T14" fmla="*/ 44 w 166"/>
              <a:gd name="T15" fmla="*/ 70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88">
                <a:moveTo>
                  <a:pt x="44" y="70"/>
                </a:moveTo>
                <a:cubicBezTo>
                  <a:pt x="54" y="84"/>
                  <a:pt x="54" y="84"/>
                  <a:pt x="54" y="84"/>
                </a:cubicBezTo>
                <a:cubicBezTo>
                  <a:pt x="0" y="88"/>
                  <a:pt x="0" y="88"/>
                  <a:pt x="0" y="88"/>
                </a:cubicBezTo>
                <a:cubicBezTo>
                  <a:pt x="23" y="38"/>
                  <a:pt x="23" y="38"/>
                  <a:pt x="23" y="38"/>
                </a:cubicBezTo>
                <a:cubicBezTo>
                  <a:pt x="33" y="53"/>
                  <a:pt x="33" y="53"/>
                  <a:pt x="33" y="53"/>
                </a:cubicBezTo>
                <a:cubicBezTo>
                  <a:pt x="71" y="30"/>
                  <a:pt x="114" y="12"/>
                  <a:pt x="161" y="0"/>
                </a:cubicBezTo>
                <a:cubicBezTo>
                  <a:pt x="166" y="20"/>
                  <a:pt x="166" y="20"/>
                  <a:pt x="166" y="20"/>
                </a:cubicBezTo>
                <a:cubicBezTo>
                  <a:pt x="121" y="31"/>
                  <a:pt x="81" y="48"/>
                  <a:pt x="44" y="70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Line 64"/>
          <p:cNvSpPr>
            <a:spLocks noChangeShapeType="1"/>
          </p:cNvSpPr>
          <p:nvPr/>
        </p:nvSpPr>
        <p:spPr bwMode="auto">
          <a:xfrm>
            <a:off x="5139836" y="3084283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3" name="Line 65"/>
          <p:cNvSpPr>
            <a:spLocks noChangeShapeType="1"/>
          </p:cNvSpPr>
          <p:nvPr/>
        </p:nvSpPr>
        <p:spPr bwMode="auto">
          <a:xfrm>
            <a:off x="5139836" y="3084283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4" name="Freeform 45"/>
          <p:cNvSpPr/>
          <p:nvPr/>
        </p:nvSpPr>
        <p:spPr bwMode="auto">
          <a:xfrm>
            <a:off x="5355766" y="2436495"/>
            <a:ext cx="1530448" cy="1375131"/>
          </a:xfrm>
          <a:custGeom>
            <a:avLst/>
            <a:gdLst>
              <a:gd name="T0" fmla="*/ 131 w 404"/>
              <a:gd name="T1" fmla="*/ 363 h 363"/>
              <a:gd name="T2" fmla="*/ 80 w 404"/>
              <a:gd name="T3" fmla="*/ 334 h 363"/>
              <a:gd name="T4" fmla="*/ 10 w 404"/>
              <a:gd name="T5" fmla="*/ 211 h 363"/>
              <a:gd name="T6" fmla="*/ 10 w 404"/>
              <a:gd name="T7" fmla="*/ 152 h 363"/>
              <a:gd name="T8" fmla="*/ 80 w 404"/>
              <a:gd name="T9" fmla="*/ 30 h 363"/>
              <a:gd name="T10" fmla="*/ 131 w 404"/>
              <a:gd name="T11" fmla="*/ 0 h 363"/>
              <a:gd name="T12" fmla="*/ 273 w 404"/>
              <a:gd name="T13" fmla="*/ 0 h 363"/>
              <a:gd name="T14" fmla="*/ 324 w 404"/>
              <a:gd name="T15" fmla="*/ 30 h 363"/>
              <a:gd name="T16" fmla="*/ 394 w 404"/>
              <a:gd name="T17" fmla="*/ 152 h 363"/>
              <a:gd name="T18" fmla="*/ 394 w 404"/>
              <a:gd name="T19" fmla="*/ 211 h 363"/>
              <a:gd name="T20" fmla="*/ 324 w 404"/>
              <a:gd name="T21" fmla="*/ 334 h 363"/>
              <a:gd name="T22" fmla="*/ 273 w 404"/>
              <a:gd name="T23" fmla="*/ 363 h 363"/>
              <a:gd name="T24" fmla="*/ 131 w 404"/>
              <a:gd name="T25" fmla="*/ 363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04" h="363">
                <a:moveTo>
                  <a:pt x="131" y="363"/>
                </a:moveTo>
                <a:cubicBezTo>
                  <a:pt x="113" y="363"/>
                  <a:pt x="90" y="350"/>
                  <a:pt x="80" y="334"/>
                </a:cubicBezTo>
                <a:cubicBezTo>
                  <a:pt x="10" y="211"/>
                  <a:pt x="10" y="211"/>
                  <a:pt x="10" y="211"/>
                </a:cubicBezTo>
                <a:cubicBezTo>
                  <a:pt x="0" y="195"/>
                  <a:pt x="0" y="169"/>
                  <a:pt x="10" y="152"/>
                </a:cubicBezTo>
                <a:cubicBezTo>
                  <a:pt x="80" y="30"/>
                  <a:pt x="80" y="30"/>
                  <a:pt x="80" y="30"/>
                </a:cubicBezTo>
                <a:cubicBezTo>
                  <a:pt x="90" y="14"/>
                  <a:pt x="113" y="0"/>
                  <a:pt x="131" y="0"/>
                </a:cubicBezTo>
                <a:cubicBezTo>
                  <a:pt x="273" y="0"/>
                  <a:pt x="273" y="0"/>
                  <a:pt x="273" y="0"/>
                </a:cubicBezTo>
                <a:cubicBezTo>
                  <a:pt x="291" y="0"/>
                  <a:pt x="314" y="14"/>
                  <a:pt x="324" y="30"/>
                </a:cubicBezTo>
                <a:cubicBezTo>
                  <a:pt x="394" y="152"/>
                  <a:pt x="394" y="152"/>
                  <a:pt x="394" y="152"/>
                </a:cubicBezTo>
                <a:cubicBezTo>
                  <a:pt x="404" y="169"/>
                  <a:pt x="404" y="195"/>
                  <a:pt x="394" y="211"/>
                </a:cubicBezTo>
                <a:cubicBezTo>
                  <a:pt x="324" y="334"/>
                  <a:pt x="324" y="334"/>
                  <a:pt x="324" y="334"/>
                </a:cubicBezTo>
                <a:cubicBezTo>
                  <a:pt x="314" y="350"/>
                  <a:pt x="291" y="363"/>
                  <a:pt x="273" y="363"/>
                </a:cubicBezTo>
                <a:lnTo>
                  <a:pt x="131" y="363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333333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5" name="Freeform 46"/>
          <p:cNvSpPr/>
          <p:nvPr/>
        </p:nvSpPr>
        <p:spPr bwMode="auto">
          <a:xfrm>
            <a:off x="5355766" y="4156355"/>
            <a:ext cx="1530448" cy="1375131"/>
          </a:xfrm>
          <a:custGeom>
            <a:avLst/>
            <a:gdLst>
              <a:gd name="T0" fmla="*/ 131 w 404"/>
              <a:gd name="T1" fmla="*/ 363 h 363"/>
              <a:gd name="T2" fmla="*/ 80 w 404"/>
              <a:gd name="T3" fmla="*/ 333 h 363"/>
              <a:gd name="T4" fmla="*/ 10 w 404"/>
              <a:gd name="T5" fmla="*/ 211 h 363"/>
              <a:gd name="T6" fmla="*/ 10 w 404"/>
              <a:gd name="T7" fmla="*/ 152 h 363"/>
              <a:gd name="T8" fmla="*/ 80 w 404"/>
              <a:gd name="T9" fmla="*/ 29 h 363"/>
              <a:gd name="T10" fmla="*/ 131 w 404"/>
              <a:gd name="T11" fmla="*/ 0 h 363"/>
              <a:gd name="T12" fmla="*/ 273 w 404"/>
              <a:gd name="T13" fmla="*/ 0 h 363"/>
              <a:gd name="T14" fmla="*/ 324 w 404"/>
              <a:gd name="T15" fmla="*/ 29 h 363"/>
              <a:gd name="T16" fmla="*/ 394 w 404"/>
              <a:gd name="T17" fmla="*/ 152 h 363"/>
              <a:gd name="T18" fmla="*/ 394 w 404"/>
              <a:gd name="T19" fmla="*/ 211 h 363"/>
              <a:gd name="T20" fmla="*/ 324 w 404"/>
              <a:gd name="T21" fmla="*/ 333 h 363"/>
              <a:gd name="T22" fmla="*/ 273 w 404"/>
              <a:gd name="T23" fmla="*/ 363 h 363"/>
              <a:gd name="T24" fmla="*/ 131 w 404"/>
              <a:gd name="T25" fmla="*/ 363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04" h="363">
                <a:moveTo>
                  <a:pt x="131" y="363"/>
                </a:moveTo>
                <a:cubicBezTo>
                  <a:pt x="113" y="363"/>
                  <a:pt x="90" y="350"/>
                  <a:pt x="80" y="333"/>
                </a:cubicBezTo>
                <a:cubicBezTo>
                  <a:pt x="10" y="211"/>
                  <a:pt x="10" y="211"/>
                  <a:pt x="10" y="211"/>
                </a:cubicBezTo>
                <a:cubicBezTo>
                  <a:pt x="0" y="195"/>
                  <a:pt x="0" y="168"/>
                  <a:pt x="10" y="152"/>
                </a:cubicBezTo>
                <a:cubicBezTo>
                  <a:pt x="80" y="29"/>
                  <a:pt x="80" y="29"/>
                  <a:pt x="80" y="29"/>
                </a:cubicBezTo>
                <a:cubicBezTo>
                  <a:pt x="90" y="13"/>
                  <a:pt x="113" y="0"/>
                  <a:pt x="131" y="0"/>
                </a:cubicBezTo>
                <a:cubicBezTo>
                  <a:pt x="273" y="0"/>
                  <a:pt x="273" y="0"/>
                  <a:pt x="273" y="0"/>
                </a:cubicBezTo>
                <a:cubicBezTo>
                  <a:pt x="291" y="0"/>
                  <a:pt x="314" y="13"/>
                  <a:pt x="324" y="29"/>
                </a:cubicBezTo>
                <a:cubicBezTo>
                  <a:pt x="394" y="152"/>
                  <a:pt x="394" y="152"/>
                  <a:pt x="394" y="152"/>
                </a:cubicBezTo>
                <a:cubicBezTo>
                  <a:pt x="404" y="168"/>
                  <a:pt x="404" y="195"/>
                  <a:pt x="394" y="211"/>
                </a:cubicBezTo>
                <a:cubicBezTo>
                  <a:pt x="324" y="333"/>
                  <a:pt x="324" y="333"/>
                  <a:pt x="324" y="333"/>
                </a:cubicBezTo>
                <a:cubicBezTo>
                  <a:pt x="314" y="350"/>
                  <a:pt x="291" y="363"/>
                  <a:pt x="273" y="363"/>
                </a:cubicBezTo>
                <a:lnTo>
                  <a:pt x="131" y="363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333333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6" name="Freeform 47"/>
          <p:cNvSpPr/>
          <p:nvPr/>
        </p:nvSpPr>
        <p:spPr bwMode="auto">
          <a:xfrm>
            <a:off x="3866988" y="3296425"/>
            <a:ext cx="1530448" cy="1375131"/>
          </a:xfrm>
          <a:custGeom>
            <a:avLst/>
            <a:gdLst>
              <a:gd name="T0" fmla="*/ 131 w 404"/>
              <a:gd name="T1" fmla="*/ 363 h 363"/>
              <a:gd name="T2" fmla="*/ 80 w 404"/>
              <a:gd name="T3" fmla="*/ 334 h 363"/>
              <a:gd name="T4" fmla="*/ 10 w 404"/>
              <a:gd name="T5" fmla="*/ 211 h 363"/>
              <a:gd name="T6" fmla="*/ 10 w 404"/>
              <a:gd name="T7" fmla="*/ 152 h 363"/>
              <a:gd name="T8" fmla="*/ 80 w 404"/>
              <a:gd name="T9" fmla="*/ 30 h 363"/>
              <a:gd name="T10" fmla="*/ 131 w 404"/>
              <a:gd name="T11" fmla="*/ 0 h 363"/>
              <a:gd name="T12" fmla="*/ 273 w 404"/>
              <a:gd name="T13" fmla="*/ 0 h 363"/>
              <a:gd name="T14" fmla="*/ 324 w 404"/>
              <a:gd name="T15" fmla="*/ 30 h 363"/>
              <a:gd name="T16" fmla="*/ 395 w 404"/>
              <a:gd name="T17" fmla="*/ 152 h 363"/>
              <a:gd name="T18" fmla="*/ 395 w 404"/>
              <a:gd name="T19" fmla="*/ 211 h 363"/>
              <a:gd name="T20" fmla="*/ 324 w 404"/>
              <a:gd name="T21" fmla="*/ 334 h 363"/>
              <a:gd name="T22" fmla="*/ 273 w 404"/>
              <a:gd name="T23" fmla="*/ 363 h 363"/>
              <a:gd name="T24" fmla="*/ 131 w 404"/>
              <a:gd name="T25" fmla="*/ 363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04" h="363">
                <a:moveTo>
                  <a:pt x="131" y="363"/>
                </a:moveTo>
                <a:cubicBezTo>
                  <a:pt x="113" y="363"/>
                  <a:pt x="90" y="350"/>
                  <a:pt x="80" y="334"/>
                </a:cubicBezTo>
                <a:cubicBezTo>
                  <a:pt x="10" y="211"/>
                  <a:pt x="10" y="211"/>
                  <a:pt x="10" y="211"/>
                </a:cubicBezTo>
                <a:cubicBezTo>
                  <a:pt x="0" y="195"/>
                  <a:pt x="0" y="168"/>
                  <a:pt x="10" y="152"/>
                </a:cubicBezTo>
                <a:cubicBezTo>
                  <a:pt x="80" y="30"/>
                  <a:pt x="80" y="30"/>
                  <a:pt x="80" y="30"/>
                </a:cubicBezTo>
                <a:cubicBezTo>
                  <a:pt x="90" y="13"/>
                  <a:pt x="113" y="0"/>
                  <a:pt x="131" y="0"/>
                </a:cubicBezTo>
                <a:cubicBezTo>
                  <a:pt x="273" y="0"/>
                  <a:pt x="273" y="0"/>
                  <a:pt x="273" y="0"/>
                </a:cubicBezTo>
                <a:cubicBezTo>
                  <a:pt x="292" y="0"/>
                  <a:pt x="315" y="13"/>
                  <a:pt x="324" y="30"/>
                </a:cubicBezTo>
                <a:cubicBezTo>
                  <a:pt x="395" y="152"/>
                  <a:pt x="395" y="152"/>
                  <a:pt x="395" y="152"/>
                </a:cubicBezTo>
                <a:cubicBezTo>
                  <a:pt x="404" y="168"/>
                  <a:pt x="404" y="195"/>
                  <a:pt x="395" y="211"/>
                </a:cubicBezTo>
                <a:cubicBezTo>
                  <a:pt x="324" y="334"/>
                  <a:pt x="324" y="334"/>
                  <a:pt x="324" y="334"/>
                </a:cubicBezTo>
                <a:cubicBezTo>
                  <a:pt x="315" y="350"/>
                  <a:pt x="292" y="363"/>
                  <a:pt x="273" y="363"/>
                </a:cubicBezTo>
                <a:lnTo>
                  <a:pt x="131" y="363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333333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7" name="Freeform 48"/>
          <p:cNvSpPr/>
          <p:nvPr/>
        </p:nvSpPr>
        <p:spPr bwMode="auto">
          <a:xfrm>
            <a:off x="6844544" y="3296425"/>
            <a:ext cx="1530448" cy="1375131"/>
          </a:xfrm>
          <a:custGeom>
            <a:avLst/>
            <a:gdLst>
              <a:gd name="T0" fmla="*/ 273 w 404"/>
              <a:gd name="T1" fmla="*/ 363 h 363"/>
              <a:gd name="T2" fmla="*/ 324 w 404"/>
              <a:gd name="T3" fmla="*/ 334 h 363"/>
              <a:gd name="T4" fmla="*/ 394 w 404"/>
              <a:gd name="T5" fmla="*/ 211 h 363"/>
              <a:gd name="T6" fmla="*/ 394 w 404"/>
              <a:gd name="T7" fmla="*/ 152 h 363"/>
              <a:gd name="T8" fmla="*/ 324 w 404"/>
              <a:gd name="T9" fmla="*/ 30 h 363"/>
              <a:gd name="T10" fmla="*/ 273 w 404"/>
              <a:gd name="T11" fmla="*/ 0 h 363"/>
              <a:gd name="T12" fmla="*/ 131 w 404"/>
              <a:gd name="T13" fmla="*/ 0 h 363"/>
              <a:gd name="T14" fmla="*/ 80 w 404"/>
              <a:gd name="T15" fmla="*/ 30 h 363"/>
              <a:gd name="T16" fmla="*/ 9 w 404"/>
              <a:gd name="T17" fmla="*/ 152 h 363"/>
              <a:gd name="T18" fmla="*/ 9 w 404"/>
              <a:gd name="T19" fmla="*/ 211 h 363"/>
              <a:gd name="T20" fmla="*/ 80 w 404"/>
              <a:gd name="T21" fmla="*/ 334 h 363"/>
              <a:gd name="T22" fmla="*/ 131 w 404"/>
              <a:gd name="T23" fmla="*/ 363 h 363"/>
              <a:gd name="T24" fmla="*/ 273 w 404"/>
              <a:gd name="T25" fmla="*/ 363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04" h="363">
                <a:moveTo>
                  <a:pt x="273" y="363"/>
                </a:moveTo>
                <a:cubicBezTo>
                  <a:pt x="291" y="363"/>
                  <a:pt x="314" y="350"/>
                  <a:pt x="324" y="334"/>
                </a:cubicBezTo>
                <a:cubicBezTo>
                  <a:pt x="394" y="211"/>
                  <a:pt x="394" y="211"/>
                  <a:pt x="394" y="211"/>
                </a:cubicBezTo>
                <a:cubicBezTo>
                  <a:pt x="404" y="195"/>
                  <a:pt x="404" y="168"/>
                  <a:pt x="394" y="152"/>
                </a:cubicBezTo>
                <a:cubicBezTo>
                  <a:pt x="324" y="30"/>
                  <a:pt x="324" y="30"/>
                  <a:pt x="324" y="30"/>
                </a:cubicBezTo>
                <a:cubicBezTo>
                  <a:pt x="314" y="13"/>
                  <a:pt x="291" y="0"/>
                  <a:pt x="273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12" y="0"/>
                  <a:pt x="89" y="13"/>
                  <a:pt x="80" y="30"/>
                </a:cubicBezTo>
                <a:cubicBezTo>
                  <a:pt x="9" y="152"/>
                  <a:pt x="9" y="152"/>
                  <a:pt x="9" y="152"/>
                </a:cubicBezTo>
                <a:cubicBezTo>
                  <a:pt x="0" y="168"/>
                  <a:pt x="0" y="195"/>
                  <a:pt x="9" y="211"/>
                </a:cubicBezTo>
                <a:cubicBezTo>
                  <a:pt x="80" y="334"/>
                  <a:pt x="80" y="334"/>
                  <a:pt x="80" y="334"/>
                </a:cubicBezTo>
                <a:cubicBezTo>
                  <a:pt x="89" y="350"/>
                  <a:pt x="112" y="363"/>
                  <a:pt x="131" y="363"/>
                </a:cubicBezTo>
                <a:lnTo>
                  <a:pt x="273" y="363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333333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8" name="Freeform 57"/>
          <p:cNvSpPr>
            <a:spLocks noEditPoints="1"/>
          </p:cNvSpPr>
          <p:nvPr/>
        </p:nvSpPr>
        <p:spPr bwMode="auto">
          <a:xfrm>
            <a:off x="5814144" y="2811529"/>
            <a:ext cx="617483" cy="621271"/>
          </a:xfrm>
          <a:custGeom>
            <a:avLst/>
            <a:gdLst>
              <a:gd name="T0" fmla="*/ 128 w 163"/>
              <a:gd name="T1" fmla="*/ 36 h 164"/>
              <a:gd name="T2" fmla="*/ 123 w 163"/>
              <a:gd name="T3" fmla="*/ 36 h 164"/>
              <a:gd name="T4" fmla="*/ 123 w 163"/>
              <a:gd name="T5" fmla="*/ 41 h 164"/>
              <a:gd name="T6" fmla="*/ 123 w 163"/>
              <a:gd name="T7" fmla="*/ 89 h 164"/>
              <a:gd name="T8" fmla="*/ 123 w 163"/>
              <a:gd name="T9" fmla="*/ 94 h 164"/>
              <a:gd name="T10" fmla="*/ 128 w 163"/>
              <a:gd name="T11" fmla="*/ 94 h 164"/>
              <a:gd name="T12" fmla="*/ 128 w 163"/>
              <a:gd name="T13" fmla="*/ 36 h 164"/>
              <a:gd name="T14" fmla="*/ 141 w 163"/>
              <a:gd name="T15" fmla="*/ 23 h 164"/>
              <a:gd name="T16" fmla="*/ 58 w 163"/>
              <a:gd name="T17" fmla="*/ 23 h 164"/>
              <a:gd name="T18" fmla="*/ 49 w 163"/>
              <a:gd name="T19" fmla="*/ 95 h 164"/>
              <a:gd name="T20" fmla="*/ 7 w 163"/>
              <a:gd name="T21" fmla="*/ 139 h 164"/>
              <a:gd name="T22" fmla="*/ 10 w 163"/>
              <a:gd name="T23" fmla="*/ 153 h 164"/>
              <a:gd name="T24" fmla="*/ 25 w 163"/>
              <a:gd name="T25" fmla="*/ 157 h 164"/>
              <a:gd name="T26" fmla="*/ 68 w 163"/>
              <a:gd name="T27" fmla="*/ 115 h 164"/>
              <a:gd name="T28" fmla="*/ 141 w 163"/>
              <a:gd name="T29" fmla="*/ 106 h 164"/>
              <a:gd name="T30" fmla="*/ 141 w 163"/>
              <a:gd name="T31" fmla="*/ 23 h 164"/>
              <a:gd name="T32" fmla="*/ 133 w 163"/>
              <a:gd name="T33" fmla="*/ 99 h 164"/>
              <a:gd name="T34" fmla="*/ 65 w 163"/>
              <a:gd name="T35" fmla="*/ 99 h 164"/>
              <a:gd name="T36" fmla="*/ 65 w 163"/>
              <a:gd name="T37" fmla="*/ 31 h 164"/>
              <a:gd name="T38" fmla="*/ 133 w 163"/>
              <a:gd name="T39" fmla="*/ 31 h 164"/>
              <a:gd name="T40" fmla="*/ 133 w 163"/>
              <a:gd name="T41" fmla="*/ 99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63" h="164">
                <a:moveTo>
                  <a:pt x="128" y="36"/>
                </a:moveTo>
                <a:cubicBezTo>
                  <a:pt x="127" y="34"/>
                  <a:pt x="125" y="34"/>
                  <a:pt x="123" y="36"/>
                </a:cubicBezTo>
                <a:cubicBezTo>
                  <a:pt x="122" y="37"/>
                  <a:pt x="122" y="39"/>
                  <a:pt x="123" y="41"/>
                </a:cubicBezTo>
                <a:cubicBezTo>
                  <a:pt x="137" y="54"/>
                  <a:pt x="137" y="76"/>
                  <a:pt x="123" y="89"/>
                </a:cubicBezTo>
                <a:cubicBezTo>
                  <a:pt x="122" y="90"/>
                  <a:pt x="122" y="92"/>
                  <a:pt x="123" y="94"/>
                </a:cubicBezTo>
                <a:cubicBezTo>
                  <a:pt x="125" y="95"/>
                  <a:pt x="127" y="95"/>
                  <a:pt x="128" y="94"/>
                </a:cubicBezTo>
                <a:cubicBezTo>
                  <a:pt x="144" y="78"/>
                  <a:pt x="144" y="52"/>
                  <a:pt x="128" y="36"/>
                </a:cubicBezTo>
                <a:close/>
                <a:moveTo>
                  <a:pt x="141" y="23"/>
                </a:moveTo>
                <a:cubicBezTo>
                  <a:pt x="118" y="0"/>
                  <a:pt x="81" y="0"/>
                  <a:pt x="58" y="23"/>
                </a:cubicBezTo>
                <a:cubicBezTo>
                  <a:pt x="38" y="43"/>
                  <a:pt x="35" y="73"/>
                  <a:pt x="49" y="95"/>
                </a:cubicBezTo>
                <a:cubicBezTo>
                  <a:pt x="7" y="139"/>
                  <a:pt x="7" y="139"/>
                  <a:pt x="7" y="139"/>
                </a:cubicBezTo>
                <a:cubicBezTo>
                  <a:pt x="7" y="139"/>
                  <a:pt x="0" y="143"/>
                  <a:pt x="10" y="153"/>
                </a:cubicBezTo>
                <a:cubicBezTo>
                  <a:pt x="21" y="164"/>
                  <a:pt x="25" y="157"/>
                  <a:pt x="25" y="157"/>
                </a:cubicBezTo>
                <a:cubicBezTo>
                  <a:pt x="68" y="115"/>
                  <a:pt x="68" y="115"/>
                  <a:pt x="68" y="115"/>
                </a:cubicBezTo>
                <a:cubicBezTo>
                  <a:pt x="91" y="128"/>
                  <a:pt x="121" y="126"/>
                  <a:pt x="141" y="106"/>
                </a:cubicBezTo>
                <a:cubicBezTo>
                  <a:pt x="163" y="83"/>
                  <a:pt x="163" y="46"/>
                  <a:pt x="141" y="23"/>
                </a:cubicBezTo>
                <a:close/>
                <a:moveTo>
                  <a:pt x="133" y="99"/>
                </a:moveTo>
                <a:cubicBezTo>
                  <a:pt x="114" y="118"/>
                  <a:pt x="84" y="118"/>
                  <a:pt x="65" y="99"/>
                </a:cubicBezTo>
                <a:cubicBezTo>
                  <a:pt x="46" y="80"/>
                  <a:pt x="46" y="49"/>
                  <a:pt x="65" y="31"/>
                </a:cubicBezTo>
                <a:cubicBezTo>
                  <a:pt x="84" y="12"/>
                  <a:pt x="114" y="12"/>
                  <a:pt x="133" y="31"/>
                </a:cubicBezTo>
                <a:cubicBezTo>
                  <a:pt x="152" y="49"/>
                  <a:pt x="152" y="80"/>
                  <a:pt x="133" y="99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9" name="Freeform 58"/>
          <p:cNvSpPr>
            <a:spLocks noEditPoints="1"/>
          </p:cNvSpPr>
          <p:nvPr/>
        </p:nvSpPr>
        <p:spPr bwMode="auto">
          <a:xfrm>
            <a:off x="4420071" y="3675248"/>
            <a:ext cx="424283" cy="613695"/>
          </a:xfrm>
          <a:custGeom>
            <a:avLst/>
            <a:gdLst>
              <a:gd name="T0" fmla="*/ 56 w 112"/>
              <a:gd name="T1" fmla="*/ 23 h 162"/>
              <a:gd name="T2" fmla="*/ 59 w 112"/>
              <a:gd name="T3" fmla="*/ 20 h 162"/>
              <a:gd name="T4" fmla="*/ 56 w 112"/>
              <a:gd name="T5" fmla="*/ 17 h 162"/>
              <a:gd name="T6" fmla="*/ 17 w 112"/>
              <a:gd name="T7" fmla="*/ 56 h 162"/>
              <a:gd name="T8" fmla="*/ 20 w 112"/>
              <a:gd name="T9" fmla="*/ 59 h 162"/>
              <a:gd name="T10" fmla="*/ 23 w 112"/>
              <a:gd name="T11" fmla="*/ 56 h 162"/>
              <a:gd name="T12" fmla="*/ 56 w 112"/>
              <a:gd name="T13" fmla="*/ 23 h 162"/>
              <a:gd name="T14" fmla="*/ 33 w 112"/>
              <a:gd name="T15" fmla="*/ 140 h 162"/>
              <a:gd name="T16" fmla="*/ 34 w 112"/>
              <a:gd name="T17" fmla="*/ 149 h 162"/>
              <a:gd name="T18" fmla="*/ 42 w 112"/>
              <a:gd name="T19" fmla="*/ 153 h 162"/>
              <a:gd name="T20" fmla="*/ 42 w 112"/>
              <a:gd name="T21" fmla="*/ 158 h 162"/>
              <a:gd name="T22" fmla="*/ 56 w 112"/>
              <a:gd name="T23" fmla="*/ 162 h 162"/>
              <a:gd name="T24" fmla="*/ 70 w 112"/>
              <a:gd name="T25" fmla="*/ 158 h 162"/>
              <a:gd name="T26" fmla="*/ 71 w 112"/>
              <a:gd name="T27" fmla="*/ 153 h 162"/>
              <a:gd name="T28" fmla="*/ 79 w 112"/>
              <a:gd name="T29" fmla="*/ 149 h 162"/>
              <a:gd name="T30" fmla="*/ 80 w 112"/>
              <a:gd name="T31" fmla="*/ 140 h 162"/>
              <a:gd name="T32" fmla="*/ 56 w 112"/>
              <a:gd name="T33" fmla="*/ 144 h 162"/>
              <a:gd name="T34" fmla="*/ 33 w 112"/>
              <a:gd name="T35" fmla="*/ 140 h 162"/>
              <a:gd name="T36" fmla="*/ 30 w 112"/>
              <a:gd name="T37" fmla="*/ 125 h 162"/>
              <a:gd name="T38" fmla="*/ 32 w 112"/>
              <a:gd name="T39" fmla="*/ 133 h 162"/>
              <a:gd name="T40" fmla="*/ 56 w 112"/>
              <a:gd name="T41" fmla="*/ 138 h 162"/>
              <a:gd name="T42" fmla="*/ 81 w 112"/>
              <a:gd name="T43" fmla="*/ 133 h 162"/>
              <a:gd name="T44" fmla="*/ 82 w 112"/>
              <a:gd name="T45" fmla="*/ 125 h 162"/>
              <a:gd name="T46" fmla="*/ 56 w 112"/>
              <a:gd name="T47" fmla="*/ 129 h 162"/>
              <a:gd name="T48" fmla="*/ 30 w 112"/>
              <a:gd name="T49" fmla="*/ 125 h 162"/>
              <a:gd name="T50" fmla="*/ 69 w 112"/>
              <a:gd name="T51" fmla="*/ 76 h 162"/>
              <a:gd name="T52" fmla="*/ 56 w 112"/>
              <a:gd name="T53" fmla="*/ 54 h 162"/>
              <a:gd name="T54" fmla="*/ 44 w 112"/>
              <a:gd name="T55" fmla="*/ 76 h 162"/>
              <a:gd name="T56" fmla="*/ 39 w 112"/>
              <a:gd name="T57" fmla="*/ 65 h 162"/>
              <a:gd name="T58" fmla="*/ 31 w 112"/>
              <a:gd name="T59" fmla="*/ 69 h 162"/>
              <a:gd name="T60" fmla="*/ 43 w 112"/>
              <a:gd name="T61" fmla="*/ 96 h 162"/>
              <a:gd name="T62" fmla="*/ 56 w 112"/>
              <a:gd name="T63" fmla="*/ 72 h 162"/>
              <a:gd name="T64" fmla="*/ 69 w 112"/>
              <a:gd name="T65" fmla="*/ 96 h 162"/>
              <a:gd name="T66" fmla="*/ 82 w 112"/>
              <a:gd name="T67" fmla="*/ 69 h 162"/>
              <a:gd name="T68" fmla="*/ 74 w 112"/>
              <a:gd name="T69" fmla="*/ 65 h 162"/>
              <a:gd name="T70" fmla="*/ 69 w 112"/>
              <a:gd name="T71" fmla="*/ 76 h 162"/>
              <a:gd name="T72" fmla="*/ 56 w 112"/>
              <a:gd name="T73" fmla="*/ 0 h 162"/>
              <a:gd name="T74" fmla="*/ 0 w 112"/>
              <a:gd name="T75" fmla="*/ 56 h 162"/>
              <a:gd name="T76" fmla="*/ 27 w 112"/>
              <a:gd name="T77" fmla="*/ 103 h 162"/>
              <a:gd name="T78" fmla="*/ 29 w 112"/>
              <a:gd name="T79" fmla="*/ 117 h 162"/>
              <a:gd name="T80" fmla="*/ 56 w 112"/>
              <a:gd name="T81" fmla="*/ 123 h 162"/>
              <a:gd name="T82" fmla="*/ 83 w 112"/>
              <a:gd name="T83" fmla="*/ 117 h 162"/>
              <a:gd name="T84" fmla="*/ 85 w 112"/>
              <a:gd name="T85" fmla="*/ 103 h 162"/>
              <a:gd name="T86" fmla="*/ 112 w 112"/>
              <a:gd name="T87" fmla="*/ 56 h 162"/>
              <a:gd name="T88" fmla="*/ 56 w 112"/>
              <a:gd name="T89" fmla="*/ 0 h 162"/>
              <a:gd name="T90" fmla="*/ 77 w 112"/>
              <a:gd name="T91" fmla="*/ 97 h 162"/>
              <a:gd name="T92" fmla="*/ 75 w 112"/>
              <a:gd name="T93" fmla="*/ 110 h 162"/>
              <a:gd name="T94" fmla="*/ 56 w 112"/>
              <a:gd name="T95" fmla="*/ 113 h 162"/>
              <a:gd name="T96" fmla="*/ 37 w 112"/>
              <a:gd name="T97" fmla="*/ 110 h 162"/>
              <a:gd name="T98" fmla="*/ 36 w 112"/>
              <a:gd name="T99" fmla="*/ 97 h 162"/>
              <a:gd name="T100" fmla="*/ 10 w 112"/>
              <a:gd name="T101" fmla="*/ 56 h 162"/>
              <a:gd name="T102" fmla="*/ 56 w 112"/>
              <a:gd name="T103" fmla="*/ 10 h 162"/>
              <a:gd name="T104" fmla="*/ 102 w 112"/>
              <a:gd name="T105" fmla="*/ 56 h 162"/>
              <a:gd name="T106" fmla="*/ 77 w 112"/>
              <a:gd name="T107" fmla="*/ 9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56" y="23"/>
                </a:moveTo>
                <a:cubicBezTo>
                  <a:pt x="58" y="23"/>
                  <a:pt x="59" y="22"/>
                  <a:pt x="59" y="20"/>
                </a:cubicBezTo>
                <a:cubicBezTo>
                  <a:pt x="59" y="18"/>
                  <a:pt x="58" y="17"/>
                  <a:pt x="56" y="17"/>
                </a:cubicBezTo>
                <a:cubicBezTo>
                  <a:pt x="35" y="17"/>
                  <a:pt x="17" y="34"/>
                  <a:pt x="17" y="56"/>
                </a:cubicBezTo>
                <a:cubicBezTo>
                  <a:pt x="17" y="57"/>
                  <a:pt x="19" y="59"/>
                  <a:pt x="20" y="59"/>
                </a:cubicBezTo>
                <a:cubicBezTo>
                  <a:pt x="22" y="59"/>
                  <a:pt x="23" y="57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33" y="140"/>
                </a:moveTo>
                <a:cubicBezTo>
                  <a:pt x="34" y="149"/>
                  <a:pt x="34" y="149"/>
                  <a:pt x="34" y="149"/>
                </a:cubicBezTo>
                <a:cubicBezTo>
                  <a:pt x="34" y="149"/>
                  <a:pt x="36" y="152"/>
                  <a:pt x="42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1" y="153"/>
                  <a:pt x="71" y="153"/>
                  <a:pt x="71" y="153"/>
                </a:cubicBezTo>
                <a:cubicBezTo>
                  <a:pt x="77" y="152"/>
                  <a:pt x="79" y="149"/>
                  <a:pt x="79" y="149"/>
                </a:cubicBezTo>
                <a:cubicBezTo>
                  <a:pt x="80" y="140"/>
                  <a:pt x="80" y="140"/>
                  <a:pt x="80" y="140"/>
                </a:cubicBezTo>
                <a:cubicBezTo>
                  <a:pt x="73" y="143"/>
                  <a:pt x="65" y="144"/>
                  <a:pt x="56" y="144"/>
                </a:cubicBezTo>
                <a:cubicBezTo>
                  <a:pt x="48" y="144"/>
                  <a:pt x="40" y="143"/>
                  <a:pt x="33" y="140"/>
                </a:cubicBezTo>
                <a:close/>
                <a:moveTo>
                  <a:pt x="30" y="125"/>
                </a:moveTo>
                <a:cubicBezTo>
                  <a:pt x="32" y="133"/>
                  <a:pt x="32" y="133"/>
                  <a:pt x="32" y="133"/>
                </a:cubicBezTo>
                <a:cubicBezTo>
                  <a:pt x="39" y="136"/>
                  <a:pt x="47" y="138"/>
                  <a:pt x="56" y="138"/>
                </a:cubicBezTo>
                <a:cubicBezTo>
                  <a:pt x="65" y="138"/>
                  <a:pt x="74" y="136"/>
                  <a:pt x="81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29"/>
                  <a:pt x="56" y="129"/>
                </a:cubicBezTo>
                <a:cubicBezTo>
                  <a:pt x="47" y="129"/>
                  <a:pt x="38" y="128"/>
                  <a:pt x="30" y="125"/>
                </a:cubicBezTo>
                <a:close/>
                <a:moveTo>
                  <a:pt x="69" y="76"/>
                </a:moveTo>
                <a:cubicBezTo>
                  <a:pt x="56" y="54"/>
                  <a:pt x="56" y="54"/>
                  <a:pt x="56" y="54"/>
                </a:cubicBezTo>
                <a:cubicBezTo>
                  <a:pt x="44" y="76"/>
                  <a:pt x="44" y="76"/>
                  <a:pt x="44" y="76"/>
                </a:cubicBezTo>
                <a:cubicBezTo>
                  <a:pt x="39" y="65"/>
                  <a:pt x="39" y="65"/>
                  <a:pt x="39" y="65"/>
                </a:cubicBezTo>
                <a:cubicBezTo>
                  <a:pt x="31" y="69"/>
                  <a:pt x="31" y="69"/>
                  <a:pt x="31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2" y="69"/>
                  <a:pt x="82" y="69"/>
                  <a:pt x="82" y="69"/>
                </a:cubicBezTo>
                <a:cubicBezTo>
                  <a:pt x="74" y="65"/>
                  <a:pt x="74" y="65"/>
                  <a:pt x="74" y="65"/>
                </a:cubicBezTo>
                <a:lnTo>
                  <a:pt x="69" y="76"/>
                </a:ln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3"/>
                </a:cubicBezTo>
                <a:cubicBezTo>
                  <a:pt x="29" y="117"/>
                  <a:pt x="29" y="117"/>
                  <a:pt x="29" y="117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7"/>
                </a:cubicBezTo>
                <a:cubicBezTo>
                  <a:pt x="85" y="103"/>
                  <a:pt x="85" y="103"/>
                  <a:pt x="85" y="103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7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6" y="97"/>
                  <a:pt x="36" y="97"/>
                  <a:pt x="36" y="97"/>
                </a:cubicBezTo>
                <a:cubicBezTo>
                  <a:pt x="21" y="89"/>
                  <a:pt x="10" y="74"/>
                  <a:pt x="10" y="56"/>
                </a:cubicBezTo>
                <a:cubicBezTo>
                  <a:pt x="10" y="30"/>
                  <a:pt x="31" y="10"/>
                  <a:pt x="56" y="10"/>
                </a:cubicBezTo>
                <a:cubicBezTo>
                  <a:pt x="82" y="10"/>
                  <a:pt x="102" y="30"/>
                  <a:pt x="102" y="56"/>
                </a:cubicBezTo>
                <a:cubicBezTo>
                  <a:pt x="102" y="74"/>
                  <a:pt x="92" y="89"/>
                  <a:pt x="77" y="97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0" name="Freeform 59"/>
          <p:cNvSpPr>
            <a:spLocks noEditPoints="1"/>
          </p:cNvSpPr>
          <p:nvPr/>
        </p:nvSpPr>
        <p:spPr bwMode="auto">
          <a:xfrm>
            <a:off x="5840660" y="4607156"/>
            <a:ext cx="560659" cy="473530"/>
          </a:xfrm>
          <a:custGeom>
            <a:avLst/>
            <a:gdLst>
              <a:gd name="T0" fmla="*/ 6 w 148"/>
              <a:gd name="T1" fmla="*/ 120 h 125"/>
              <a:gd name="T2" fmla="*/ 12 w 148"/>
              <a:gd name="T3" fmla="*/ 125 h 125"/>
              <a:gd name="T4" fmla="*/ 39 w 148"/>
              <a:gd name="T5" fmla="*/ 125 h 125"/>
              <a:gd name="T6" fmla="*/ 39 w 148"/>
              <a:gd name="T7" fmla="*/ 68 h 125"/>
              <a:gd name="T8" fmla="*/ 6 w 148"/>
              <a:gd name="T9" fmla="*/ 101 h 125"/>
              <a:gd name="T10" fmla="*/ 6 w 148"/>
              <a:gd name="T11" fmla="*/ 120 h 125"/>
              <a:gd name="T12" fmla="*/ 52 w 148"/>
              <a:gd name="T13" fmla="*/ 81 h 125"/>
              <a:gd name="T14" fmla="*/ 52 w 148"/>
              <a:gd name="T15" fmla="*/ 125 h 125"/>
              <a:gd name="T16" fmla="*/ 85 w 148"/>
              <a:gd name="T17" fmla="*/ 125 h 125"/>
              <a:gd name="T18" fmla="*/ 85 w 148"/>
              <a:gd name="T19" fmla="*/ 86 h 125"/>
              <a:gd name="T20" fmla="*/ 71 w 148"/>
              <a:gd name="T21" fmla="*/ 100 h 125"/>
              <a:gd name="T22" fmla="*/ 52 w 148"/>
              <a:gd name="T23" fmla="*/ 81 h 125"/>
              <a:gd name="T24" fmla="*/ 98 w 148"/>
              <a:gd name="T25" fmla="*/ 73 h 125"/>
              <a:gd name="T26" fmla="*/ 98 w 148"/>
              <a:gd name="T27" fmla="*/ 125 h 125"/>
              <a:gd name="T28" fmla="*/ 126 w 148"/>
              <a:gd name="T29" fmla="*/ 125 h 125"/>
              <a:gd name="T30" fmla="*/ 131 w 148"/>
              <a:gd name="T31" fmla="*/ 120 h 125"/>
              <a:gd name="T32" fmla="*/ 131 w 148"/>
              <a:gd name="T33" fmla="*/ 68 h 125"/>
              <a:gd name="T34" fmla="*/ 131 w 148"/>
              <a:gd name="T35" fmla="*/ 40 h 125"/>
              <a:gd name="T36" fmla="*/ 103 w 148"/>
              <a:gd name="T37" fmla="*/ 68 h 125"/>
              <a:gd name="T38" fmla="*/ 98 w 148"/>
              <a:gd name="T39" fmla="*/ 73 h 125"/>
              <a:gd name="T40" fmla="*/ 118 w 148"/>
              <a:gd name="T41" fmla="*/ 2 h 125"/>
              <a:gd name="T42" fmla="*/ 113 w 148"/>
              <a:gd name="T43" fmla="*/ 9 h 125"/>
              <a:gd name="T44" fmla="*/ 119 w 148"/>
              <a:gd name="T45" fmla="*/ 14 h 125"/>
              <a:gd name="T46" fmla="*/ 126 w 148"/>
              <a:gd name="T47" fmla="*/ 13 h 125"/>
              <a:gd name="T48" fmla="*/ 71 w 148"/>
              <a:gd name="T49" fmla="*/ 68 h 125"/>
              <a:gd name="T50" fmla="*/ 39 w 148"/>
              <a:gd name="T51" fmla="*/ 36 h 125"/>
              <a:gd name="T52" fmla="*/ 2 w 148"/>
              <a:gd name="T53" fmla="*/ 73 h 125"/>
              <a:gd name="T54" fmla="*/ 2 w 148"/>
              <a:gd name="T55" fmla="*/ 81 h 125"/>
              <a:gd name="T56" fmla="*/ 10 w 148"/>
              <a:gd name="T57" fmla="*/ 81 h 125"/>
              <a:gd name="T58" fmla="*/ 39 w 148"/>
              <a:gd name="T59" fmla="*/ 53 h 125"/>
              <a:gd name="T60" fmla="*/ 71 w 148"/>
              <a:gd name="T61" fmla="*/ 85 h 125"/>
              <a:gd name="T62" fmla="*/ 134 w 148"/>
              <a:gd name="T63" fmla="*/ 22 h 125"/>
              <a:gd name="T64" fmla="*/ 133 w 148"/>
              <a:gd name="T65" fmla="*/ 28 h 125"/>
              <a:gd name="T66" fmla="*/ 139 w 148"/>
              <a:gd name="T67" fmla="*/ 35 h 125"/>
              <a:gd name="T68" fmla="*/ 139 w 148"/>
              <a:gd name="T69" fmla="*/ 35 h 125"/>
              <a:gd name="T70" fmla="*/ 145 w 148"/>
              <a:gd name="T71" fmla="*/ 29 h 125"/>
              <a:gd name="T72" fmla="*/ 148 w 148"/>
              <a:gd name="T73" fmla="*/ 0 h 125"/>
              <a:gd name="T74" fmla="*/ 118 w 148"/>
              <a:gd name="T75" fmla="*/ 2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48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68"/>
                  <a:pt x="131" y="68"/>
                  <a:pt x="131" y="68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  <a:moveTo>
                  <a:pt x="118" y="2"/>
                </a:moveTo>
                <a:cubicBezTo>
                  <a:pt x="115" y="3"/>
                  <a:pt x="113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6" y="13"/>
                  <a:pt x="126" y="13"/>
                  <a:pt x="126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9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8" y="0"/>
                  <a:pt x="148" y="0"/>
                  <a:pt x="148" y="0"/>
                </a:cubicBezTo>
                <a:lnTo>
                  <a:pt x="118" y="2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1" name="Freeform 60"/>
          <p:cNvSpPr>
            <a:spLocks noEditPoints="1"/>
          </p:cNvSpPr>
          <p:nvPr/>
        </p:nvSpPr>
        <p:spPr bwMode="auto">
          <a:xfrm>
            <a:off x="7371109" y="3656308"/>
            <a:ext cx="477318" cy="602330"/>
          </a:xfrm>
          <a:custGeom>
            <a:avLst/>
            <a:gdLst>
              <a:gd name="T0" fmla="*/ 180 w 252"/>
              <a:gd name="T1" fmla="*/ 54 h 318"/>
              <a:gd name="T2" fmla="*/ 42 w 252"/>
              <a:gd name="T3" fmla="*/ 54 h 318"/>
              <a:gd name="T4" fmla="*/ 42 w 252"/>
              <a:gd name="T5" fmla="*/ 72 h 318"/>
              <a:gd name="T6" fmla="*/ 180 w 252"/>
              <a:gd name="T7" fmla="*/ 72 h 318"/>
              <a:gd name="T8" fmla="*/ 180 w 252"/>
              <a:gd name="T9" fmla="*/ 54 h 318"/>
              <a:gd name="T10" fmla="*/ 180 w 252"/>
              <a:gd name="T11" fmla="*/ 130 h 318"/>
              <a:gd name="T12" fmla="*/ 42 w 252"/>
              <a:gd name="T13" fmla="*/ 130 h 318"/>
              <a:gd name="T14" fmla="*/ 42 w 252"/>
              <a:gd name="T15" fmla="*/ 150 h 318"/>
              <a:gd name="T16" fmla="*/ 180 w 252"/>
              <a:gd name="T17" fmla="*/ 150 h 318"/>
              <a:gd name="T18" fmla="*/ 180 w 252"/>
              <a:gd name="T19" fmla="*/ 130 h 318"/>
              <a:gd name="T20" fmla="*/ 180 w 252"/>
              <a:gd name="T21" fmla="*/ 92 h 318"/>
              <a:gd name="T22" fmla="*/ 42 w 252"/>
              <a:gd name="T23" fmla="*/ 92 h 318"/>
              <a:gd name="T24" fmla="*/ 42 w 252"/>
              <a:gd name="T25" fmla="*/ 112 h 318"/>
              <a:gd name="T26" fmla="*/ 180 w 252"/>
              <a:gd name="T27" fmla="*/ 112 h 318"/>
              <a:gd name="T28" fmla="*/ 180 w 252"/>
              <a:gd name="T29" fmla="*/ 92 h 318"/>
              <a:gd name="T30" fmla="*/ 42 w 252"/>
              <a:gd name="T31" fmla="*/ 190 h 318"/>
              <a:gd name="T32" fmla="*/ 112 w 252"/>
              <a:gd name="T33" fmla="*/ 190 h 318"/>
              <a:gd name="T34" fmla="*/ 112 w 252"/>
              <a:gd name="T35" fmla="*/ 170 h 318"/>
              <a:gd name="T36" fmla="*/ 42 w 252"/>
              <a:gd name="T37" fmla="*/ 170 h 318"/>
              <a:gd name="T38" fmla="*/ 42 w 252"/>
              <a:gd name="T39" fmla="*/ 190 h 318"/>
              <a:gd name="T40" fmla="*/ 224 w 252"/>
              <a:gd name="T41" fmla="*/ 28 h 318"/>
              <a:gd name="T42" fmla="*/ 224 w 252"/>
              <a:gd name="T43" fmla="*/ 0 h 318"/>
              <a:gd name="T44" fmla="*/ 0 w 252"/>
              <a:gd name="T45" fmla="*/ 0 h 318"/>
              <a:gd name="T46" fmla="*/ 0 w 252"/>
              <a:gd name="T47" fmla="*/ 290 h 318"/>
              <a:gd name="T48" fmla="*/ 28 w 252"/>
              <a:gd name="T49" fmla="*/ 290 h 318"/>
              <a:gd name="T50" fmla="*/ 28 w 252"/>
              <a:gd name="T51" fmla="*/ 318 h 318"/>
              <a:gd name="T52" fmla="*/ 252 w 252"/>
              <a:gd name="T53" fmla="*/ 318 h 318"/>
              <a:gd name="T54" fmla="*/ 252 w 252"/>
              <a:gd name="T55" fmla="*/ 28 h 318"/>
              <a:gd name="T56" fmla="*/ 224 w 252"/>
              <a:gd name="T57" fmla="*/ 28 h 318"/>
              <a:gd name="T58" fmla="*/ 14 w 252"/>
              <a:gd name="T59" fmla="*/ 274 h 318"/>
              <a:gd name="T60" fmla="*/ 14 w 252"/>
              <a:gd name="T61" fmla="*/ 16 h 318"/>
              <a:gd name="T62" fmla="*/ 208 w 252"/>
              <a:gd name="T63" fmla="*/ 16 h 318"/>
              <a:gd name="T64" fmla="*/ 208 w 252"/>
              <a:gd name="T65" fmla="*/ 208 h 318"/>
              <a:gd name="T66" fmla="*/ 142 w 252"/>
              <a:gd name="T67" fmla="*/ 208 h 318"/>
              <a:gd name="T68" fmla="*/ 142 w 252"/>
              <a:gd name="T69" fmla="*/ 274 h 318"/>
              <a:gd name="T70" fmla="*/ 14 w 252"/>
              <a:gd name="T71" fmla="*/ 274 h 318"/>
              <a:gd name="T72" fmla="*/ 236 w 252"/>
              <a:gd name="T73" fmla="*/ 302 h 318"/>
              <a:gd name="T74" fmla="*/ 42 w 252"/>
              <a:gd name="T75" fmla="*/ 302 h 318"/>
              <a:gd name="T76" fmla="*/ 42 w 252"/>
              <a:gd name="T77" fmla="*/ 290 h 318"/>
              <a:gd name="T78" fmla="*/ 150 w 252"/>
              <a:gd name="T79" fmla="*/ 290 h 318"/>
              <a:gd name="T80" fmla="*/ 224 w 252"/>
              <a:gd name="T81" fmla="*/ 216 h 318"/>
              <a:gd name="T82" fmla="*/ 224 w 252"/>
              <a:gd name="T83" fmla="*/ 44 h 318"/>
              <a:gd name="T84" fmla="*/ 236 w 252"/>
              <a:gd name="T85" fmla="*/ 44 h 318"/>
              <a:gd name="T86" fmla="*/ 236 w 252"/>
              <a:gd name="T87" fmla="*/ 302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52" h="318">
                <a:moveTo>
                  <a:pt x="180" y="54"/>
                </a:moveTo>
                <a:lnTo>
                  <a:pt x="42" y="54"/>
                </a:lnTo>
                <a:lnTo>
                  <a:pt x="42" y="72"/>
                </a:lnTo>
                <a:lnTo>
                  <a:pt x="180" y="72"/>
                </a:lnTo>
                <a:lnTo>
                  <a:pt x="180" y="54"/>
                </a:lnTo>
                <a:close/>
                <a:moveTo>
                  <a:pt x="180" y="130"/>
                </a:moveTo>
                <a:lnTo>
                  <a:pt x="42" y="130"/>
                </a:lnTo>
                <a:lnTo>
                  <a:pt x="42" y="150"/>
                </a:lnTo>
                <a:lnTo>
                  <a:pt x="180" y="150"/>
                </a:lnTo>
                <a:lnTo>
                  <a:pt x="180" y="130"/>
                </a:lnTo>
                <a:close/>
                <a:moveTo>
                  <a:pt x="180" y="92"/>
                </a:moveTo>
                <a:lnTo>
                  <a:pt x="42" y="92"/>
                </a:lnTo>
                <a:lnTo>
                  <a:pt x="42" y="112"/>
                </a:lnTo>
                <a:lnTo>
                  <a:pt x="180" y="112"/>
                </a:lnTo>
                <a:lnTo>
                  <a:pt x="180" y="92"/>
                </a:lnTo>
                <a:close/>
                <a:moveTo>
                  <a:pt x="42" y="190"/>
                </a:moveTo>
                <a:lnTo>
                  <a:pt x="112" y="190"/>
                </a:lnTo>
                <a:lnTo>
                  <a:pt x="112" y="170"/>
                </a:lnTo>
                <a:lnTo>
                  <a:pt x="42" y="170"/>
                </a:lnTo>
                <a:lnTo>
                  <a:pt x="42" y="190"/>
                </a:lnTo>
                <a:close/>
                <a:moveTo>
                  <a:pt x="224" y="28"/>
                </a:moveTo>
                <a:lnTo>
                  <a:pt x="224" y="0"/>
                </a:lnTo>
                <a:lnTo>
                  <a:pt x="0" y="0"/>
                </a:lnTo>
                <a:lnTo>
                  <a:pt x="0" y="290"/>
                </a:lnTo>
                <a:lnTo>
                  <a:pt x="28" y="290"/>
                </a:lnTo>
                <a:lnTo>
                  <a:pt x="28" y="318"/>
                </a:lnTo>
                <a:lnTo>
                  <a:pt x="252" y="318"/>
                </a:lnTo>
                <a:lnTo>
                  <a:pt x="252" y="28"/>
                </a:lnTo>
                <a:lnTo>
                  <a:pt x="224" y="28"/>
                </a:lnTo>
                <a:close/>
                <a:moveTo>
                  <a:pt x="14" y="274"/>
                </a:moveTo>
                <a:lnTo>
                  <a:pt x="14" y="16"/>
                </a:lnTo>
                <a:lnTo>
                  <a:pt x="208" y="16"/>
                </a:lnTo>
                <a:lnTo>
                  <a:pt x="208" y="208"/>
                </a:lnTo>
                <a:lnTo>
                  <a:pt x="142" y="208"/>
                </a:lnTo>
                <a:lnTo>
                  <a:pt x="142" y="274"/>
                </a:lnTo>
                <a:lnTo>
                  <a:pt x="14" y="274"/>
                </a:lnTo>
                <a:close/>
                <a:moveTo>
                  <a:pt x="236" y="302"/>
                </a:moveTo>
                <a:lnTo>
                  <a:pt x="42" y="302"/>
                </a:lnTo>
                <a:lnTo>
                  <a:pt x="42" y="290"/>
                </a:lnTo>
                <a:lnTo>
                  <a:pt x="150" y="290"/>
                </a:lnTo>
                <a:lnTo>
                  <a:pt x="224" y="216"/>
                </a:lnTo>
                <a:lnTo>
                  <a:pt x="224" y="44"/>
                </a:lnTo>
                <a:lnTo>
                  <a:pt x="236" y="44"/>
                </a:lnTo>
                <a:lnTo>
                  <a:pt x="236" y="302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3" name="文本框 22"/>
          <p:cNvSpPr txBox="1"/>
          <p:nvPr/>
        </p:nvSpPr>
        <p:spPr>
          <a:xfrm>
            <a:off x="1034415" y="2354580"/>
            <a:ext cx="2921635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Đ</a:t>
            </a:r>
            <a:r>
              <a:rPr lang="en-US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ọc Dữ liệu &amp; Tạo Cột </a:t>
            </a:r>
            <a:r>
              <a:rPr lang="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Đ</a:t>
            </a:r>
            <a:r>
              <a:rPr lang="en-US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ặc tr</a:t>
            </a:r>
            <a:r>
              <a:rPr lang="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ư</a:t>
            </a:r>
            <a:r>
              <a:rPr lang="en-US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ng</a:t>
            </a:r>
            <a:endParaRPr lang="en-US" altLang="en-US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33120" y="4728210"/>
            <a:ext cx="298704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Loại bỏ NaN &amp; Xử l</a:t>
            </a:r>
            <a:r>
              <a:rPr lang="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ý</a:t>
            </a:r>
            <a:r>
              <a:rPr lang="en-US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Phân loại Hiếm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5480" y="2354580"/>
            <a:ext cx="3102610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L</a:t>
            </a:r>
            <a:r>
              <a:rPr lang="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ư</a:t>
            </a:r>
            <a:r>
              <a:rPr lang="en-US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u trữ Danh mục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622665" y="4726305"/>
            <a:ext cx="2399030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Cập nhật GUI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609" y="787453"/>
            <a:ext cx="3883660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648208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Biểu </a:t>
            </a:r>
            <a:r>
              <a:rPr lang="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</a:t>
            </a:r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ồ phân tán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4300" y="991235"/>
            <a:ext cx="5981700" cy="5877560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vi-VN" altLang="en-US" sz="2000" b="1">
                <a:latin typeface="Times New Roman" panose="02020603050405020304" charset="0"/>
                <a:cs typeface="Times New Roman" panose="02020603050405020304" charset="0"/>
              </a:rPr>
              <a:t>Giải thích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Trục Hoành (X-axis)</a:t>
            </a:r>
            <a:r>
              <a:rPr lang="vi-VN" altLang="en-US" sz="20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Trục Tung (Y-axis)</a:t>
            </a:r>
            <a:r>
              <a:rPr lang="vi-VN" altLang="en-US" sz="20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ờng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ỏ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ứt nét (y=x)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Các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iểm Dữ liệu: Là các chấm tròn màu xanh, mỗi chấm là một quan sát cụ thể (l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ơng thực tế và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ơng dự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oán t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ơng ứng).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iểm Gần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ờng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ỏ: Cho thấy mô hình dự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oán chính xác hoặc có sai số rất nhỏ.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iểm Xa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ờng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ỏ: Cho thấy mô hình có sai số dự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oán lớn (kém chính xác).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iểm Nằm Trên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ờng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ỏ (Y &gt; X): Mô hình dự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oán quá cao (Overprediction).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iểm Nằm D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ới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ờng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ỏ (Y &lt; X): Mô hình dự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oán quá thấp (Underprediction).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135" y="1303020"/>
            <a:ext cx="5584825" cy="5080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609" y="787453"/>
            <a:ext cx="3091815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648208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Biểu </a:t>
            </a:r>
            <a:r>
              <a:rPr lang="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</a:t>
            </a:r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ồ nhiệt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4300" y="991235"/>
            <a:ext cx="5981700" cy="5015865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vi-VN" altLang="en-US" sz="2000" b="1">
                <a:latin typeface="Times New Roman" panose="02020603050405020304" charset="0"/>
                <a:cs typeface="Times New Roman" panose="02020603050405020304" charset="0"/>
              </a:rPr>
              <a:t>Giải thích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Mục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ích: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ờng và trực quan hóa mức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ộ t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ơng quan tuyến tính giữa các cặp kỹ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Trục Hoành (X-axis): Danh sách các Kỹ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 hàng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ầu (ví dụ: Python, machine learning, sql, r, aws, ...).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Trục Tung (Y-axis): Cùng là danh sách các Kỹ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 hàng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ầu, dùng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ể so sánh với các kỹ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 trên trục X.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Giá trị trong Ô vuông: Là Hệ số T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ơng quan (r), nằm trong khoảng từ -1.00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ến +1.00.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ờng Chéo Chính: Luôn là 1.00 (màu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ỏ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ậm nhất) vì mỗi kỹ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 t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ơng quan hoàn hảo với chính nó.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505" y="1498600"/>
            <a:ext cx="5692140" cy="48177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609" y="787453"/>
            <a:ext cx="9302750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948436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Biểu </a:t>
            </a:r>
            <a:r>
              <a:rPr lang="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</a:t>
            </a:r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ồ mức </a:t>
            </a:r>
            <a:r>
              <a:rPr lang="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</a:t>
            </a:r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ộ quan trọng của </a:t>
            </a:r>
            <a:r>
              <a:rPr lang="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</a:t>
            </a:r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ặt tr</a:t>
            </a:r>
            <a:r>
              <a:rPr lang="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ư</a:t>
            </a:r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ng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4300" y="991235"/>
            <a:ext cx="5981700" cy="4707890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vi-VN" altLang="en-US" sz="2000" b="1">
                <a:latin typeface="Times New Roman" panose="02020603050405020304" charset="0"/>
                <a:cs typeface="Times New Roman" panose="02020603050405020304" charset="0"/>
              </a:rPr>
              <a:t>Giải thích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Tên Biểu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ồ: XGBoost Feature Importance (Top 17) và Random Forest Feature Importance (Top 17) (So sánh).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Mục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ích: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ánh giá mức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ộ quan trọng (Mức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ộ Quan trọng) của các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ặc tr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ể giải thích mô hình nào sử dụng yếu tố nào nhiều nhất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ể dự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oán.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Trục Hoành (X-axis): Mức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ộ Quan trọng (Importance) – Thanh ngang càng dài thì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ặc tr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 càng có ảnh h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ởng lớn.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Trục Tung (Y-axis): Liệt kê các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ặc tr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 (Feature) – Ví dụ: cấp bậc thâm niên, kỹ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ng, chức danh.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23695"/>
            <a:ext cx="5758180" cy="4460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24782" y="583943"/>
            <a:ext cx="881697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4 </a:t>
            </a:r>
            <a:r>
              <a:rPr lang="en-US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PH</a:t>
            </a:r>
            <a:r>
              <a:rPr lang="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Â</a:t>
            </a:r>
            <a:r>
              <a:rPr lang="en-US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 T</a:t>
            </a:r>
            <a:r>
              <a:rPr lang="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Í</a:t>
            </a:r>
            <a:r>
              <a:rPr lang="en-US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 DỰ </a:t>
            </a:r>
            <a:r>
              <a:rPr lang="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</a:t>
            </a:r>
            <a:r>
              <a:rPr lang="en-US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O</a:t>
            </a:r>
            <a:r>
              <a:rPr lang="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Á</a:t>
            </a:r>
            <a:r>
              <a:rPr lang="en-US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</a:t>
            </a:r>
            <a:endParaRPr lang="en-US" altLang="en-US" sz="60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2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2741" y="1897018"/>
            <a:ext cx="4366125" cy="436624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609" y="787453"/>
            <a:ext cx="3768090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648208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Chuẩn bị dữ liệu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4300" y="991235"/>
            <a:ext cx="11765280" cy="1476375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base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Dữ liệu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ợc lấy từ nguồn Kaggle - Data Science Careers &amp; Salaries 2025. Bộ liệu có chứa 13 cột về nghề nghiệp và mức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ơng của Khoa học dữ liệu. Truy cập website kaggle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ể tải bộ dữ liệu data_science_job_posts_2025.csv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ể có thể huấn luyện mô hình.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3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70" y="2744470"/>
            <a:ext cx="11250295" cy="362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609" y="787453"/>
            <a:ext cx="2953385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309118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Xử l</a:t>
            </a:r>
            <a:r>
              <a:rPr lang="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ý</a:t>
            </a:r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dữ liệu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4300" y="991235"/>
            <a:ext cx="10829925" cy="3014980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" altLang="en-US" sz="2000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oạn này thực hiện việc </a:t>
            </a:r>
            <a:r>
              <a:rPr lang="" altLang="en-US" sz="2000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ọc dữ liệu: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FILE_PATH = "data_science_job_posts_2025.csv":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ịnh ngh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ĩ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a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ờng dẫn tới file dữ liệu.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try...except FileNotFoundError: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ây là cơ chế xử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lỗi (Error Handling).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Nó cố gắng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ọc file bằng pd.read_csv(FILE_PATH).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Nếu file không tồn tại tại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ờng dẫn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ã cho, nó sẽ bắt lỗi FileNotFoundError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0" name="Picture 29" descr="IMG_2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" y="4283075"/>
            <a:ext cx="9517380" cy="18808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14300" y="991235"/>
            <a:ext cx="5981700" cy="429895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Hàm clean_money(s) (Làm sạch Doanh thu):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1" name="Picture 30" descr="IMG_2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543050"/>
            <a:ext cx="5802630" cy="466915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8" name="Straight Connector 27"/>
          <p:cNvCxnSpPr/>
          <p:nvPr/>
        </p:nvCxnSpPr>
        <p:spPr>
          <a:xfrm>
            <a:off x="6096635" y="1421130"/>
            <a:ext cx="0" cy="491363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0" name="Picture 31" descr="IMG_2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340" y="2454910"/>
            <a:ext cx="5591810" cy="28454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6210300" y="991235"/>
            <a:ext cx="5981700" cy="429895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Hàm clean_salary(s) (Làm sạch L</a:t>
            </a:r>
            <a:r>
              <a:rPr lang="" altLang="en-US" sz="20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ơng):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9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609" y="787453"/>
            <a:ext cx="2953385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11" name="文本框 5"/>
          <p:cNvSpPr txBox="1"/>
          <p:nvPr/>
        </p:nvSpPr>
        <p:spPr>
          <a:xfrm>
            <a:off x="872490" y="142240"/>
            <a:ext cx="309118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Xử l</a:t>
            </a:r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ý</a:t>
            </a:r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dữ liệu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609" y="787453"/>
            <a:ext cx="4511675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648208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Huấn luyện mô hình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4300" y="991235"/>
            <a:ext cx="5981700" cy="5354320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Các chỉ số </a:t>
            </a:r>
            <a:r>
              <a:rPr lang="" altLang="en-US" sz="2000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ánh giá: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Accuracy (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ộ chính xác): Tính tỷ lệ tổng số dự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oán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úng trên tổng số mẫu.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Precision (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ộ chính xác - cho Lớp 1): Tỷ lệ các dự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oán là Senior (Lớp 1) thực sự là Senior.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Recall (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ộ nhạy/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ộ phủ - cho Lớp 1): Tỷ lệ các job Senior thực tế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ợc mô hình phát hiện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úng.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F1-Score: Là trung bình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iều hòa của Precision và Recall.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ROC AUC (Area Under the ROC Curve):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ờng khả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 mô hình phân biệt.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9" name="Picture 1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66520"/>
            <a:ext cx="5998845" cy="5172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609" y="787453"/>
            <a:ext cx="4511675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648208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Huấn luyện mô hình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4300" y="991235"/>
            <a:ext cx="5981700" cy="429895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vi-VN" altLang="en-US" sz="2000" b="1">
                <a:latin typeface="Times New Roman" panose="02020603050405020304" charset="0"/>
                <a:cs typeface="Times New Roman" panose="02020603050405020304" charset="0"/>
              </a:rPr>
              <a:t>Đánh giá mô hình và kết quả đạt được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4" name="Picture 2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1993900"/>
            <a:ext cx="7872095" cy="38506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52057" y="583943"/>
            <a:ext cx="416242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5 </a:t>
            </a:r>
            <a:r>
              <a:rPr lang="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ĐÊ</a:t>
            </a:r>
            <a:r>
              <a:rPr lang="en-US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̀ XU</a:t>
            </a:r>
            <a:r>
              <a:rPr lang="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Â</a:t>
            </a:r>
            <a:r>
              <a:rPr lang="en-US" altLang="en-US" sz="6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́T</a:t>
            </a:r>
            <a:endParaRPr lang="en-US" altLang="en-US" sz="60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4915" y="2005330"/>
            <a:ext cx="4662170" cy="42322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609" y="787453"/>
            <a:ext cx="4195445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4199255" cy="5416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Hạn chế của </a:t>
            </a:r>
            <a:r>
              <a:rPr lang="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</a:t>
            </a:r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ề tài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菱形 6"/>
          <p:cNvSpPr/>
          <p:nvPr/>
        </p:nvSpPr>
        <p:spPr>
          <a:xfrm>
            <a:off x="96603" y="1780135"/>
            <a:ext cx="3569749" cy="3570849"/>
          </a:xfrm>
          <a:prstGeom prst="diamond">
            <a:avLst/>
          </a:prstGeom>
          <a:noFill/>
          <a:ln w="38100"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29" name="直接连接符 9"/>
          <p:cNvCxnSpPr/>
          <p:nvPr/>
        </p:nvCxnSpPr>
        <p:spPr>
          <a:xfrm>
            <a:off x="2983480" y="2263255"/>
            <a:ext cx="87603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10"/>
          <p:cNvCxnSpPr/>
          <p:nvPr/>
        </p:nvCxnSpPr>
        <p:spPr>
          <a:xfrm>
            <a:off x="2983480" y="4662122"/>
            <a:ext cx="87603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11"/>
          <p:cNvCxnSpPr/>
          <p:nvPr/>
        </p:nvCxnSpPr>
        <p:spPr>
          <a:xfrm>
            <a:off x="3965572" y="3462688"/>
            <a:ext cx="87603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菱形 12"/>
          <p:cNvSpPr/>
          <p:nvPr/>
        </p:nvSpPr>
        <p:spPr>
          <a:xfrm>
            <a:off x="4107224" y="1669132"/>
            <a:ext cx="1187880" cy="1188247"/>
          </a:xfrm>
          <a:prstGeom prst="diamond">
            <a:avLst/>
          </a:prstGeom>
          <a:noFill/>
          <a:ln w="38100"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3" name="Freeform 8"/>
          <p:cNvSpPr>
            <a:spLocks noEditPoints="1"/>
          </p:cNvSpPr>
          <p:nvPr/>
        </p:nvSpPr>
        <p:spPr bwMode="auto">
          <a:xfrm>
            <a:off x="4473519" y="2035540"/>
            <a:ext cx="455289" cy="455430"/>
          </a:xfrm>
          <a:custGeom>
            <a:avLst/>
            <a:gdLst>
              <a:gd name="T0" fmla="*/ 274 w 740"/>
              <a:gd name="T1" fmla="*/ 555 h 740"/>
              <a:gd name="T2" fmla="*/ 283 w 740"/>
              <a:gd name="T3" fmla="*/ 562 h 740"/>
              <a:gd name="T4" fmla="*/ 286 w 740"/>
              <a:gd name="T5" fmla="*/ 571 h 740"/>
              <a:gd name="T6" fmla="*/ 283 w 740"/>
              <a:gd name="T7" fmla="*/ 580 h 740"/>
              <a:gd name="T8" fmla="*/ 231 w 740"/>
              <a:gd name="T9" fmla="*/ 634 h 740"/>
              <a:gd name="T10" fmla="*/ 223 w 740"/>
              <a:gd name="T11" fmla="*/ 638 h 740"/>
              <a:gd name="T12" fmla="*/ 214 w 740"/>
              <a:gd name="T13" fmla="*/ 638 h 740"/>
              <a:gd name="T14" fmla="*/ 205 w 740"/>
              <a:gd name="T15" fmla="*/ 631 h 740"/>
              <a:gd name="T16" fmla="*/ 202 w 740"/>
              <a:gd name="T17" fmla="*/ 622 h 740"/>
              <a:gd name="T18" fmla="*/ 205 w 740"/>
              <a:gd name="T19" fmla="*/ 613 h 740"/>
              <a:gd name="T20" fmla="*/ 257 w 740"/>
              <a:gd name="T21" fmla="*/ 559 h 740"/>
              <a:gd name="T22" fmla="*/ 265 w 740"/>
              <a:gd name="T23" fmla="*/ 555 h 740"/>
              <a:gd name="T24" fmla="*/ 252 w 740"/>
              <a:gd name="T25" fmla="*/ 470 h 740"/>
              <a:gd name="T26" fmla="*/ 262 w 740"/>
              <a:gd name="T27" fmla="*/ 474 h 740"/>
              <a:gd name="T28" fmla="*/ 269 w 740"/>
              <a:gd name="T29" fmla="*/ 482 h 740"/>
              <a:gd name="T30" fmla="*/ 269 w 740"/>
              <a:gd name="T31" fmla="*/ 491 h 740"/>
              <a:gd name="T32" fmla="*/ 263 w 740"/>
              <a:gd name="T33" fmla="*/ 499 h 740"/>
              <a:gd name="T34" fmla="*/ 93 w 740"/>
              <a:gd name="T35" fmla="*/ 669 h 740"/>
              <a:gd name="T36" fmla="*/ 84 w 740"/>
              <a:gd name="T37" fmla="*/ 672 h 740"/>
              <a:gd name="T38" fmla="*/ 74 w 740"/>
              <a:gd name="T39" fmla="*/ 669 h 740"/>
              <a:gd name="T40" fmla="*/ 68 w 740"/>
              <a:gd name="T41" fmla="*/ 660 h 740"/>
              <a:gd name="T42" fmla="*/ 68 w 740"/>
              <a:gd name="T43" fmla="*/ 651 h 740"/>
              <a:gd name="T44" fmla="*/ 72 w 740"/>
              <a:gd name="T45" fmla="*/ 643 h 740"/>
              <a:gd name="T46" fmla="*/ 244 w 740"/>
              <a:gd name="T47" fmla="*/ 473 h 740"/>
              <a:gd name="T48" fmla="*/ 252 w 740"/>
              <a:gd name="T49" fmla="*/ 470 h 740"/>
              <a:gd name="T50" fmla="*/ 173 w 740"/>
              <a:gd name="T51" fmla="*/ 455 h 740"/>
              <a:gd name="T52" fmla="*/ 182 w 740"/>
              <a:gd name="T53" fmla="*/ 461 h 740"/>
              <a:gd name="T54" fmla="*/ 185 w 740"/>
              <a:gd name="T55" fmla="*/ 470 h 740"/>
              <a:gd name="T56" fmla="*/ 182 w 740"/>
              <a:gd name="T57" fmla="*/ 479 h 740"/>
              <a:gd name="T58" fmla="*/ 163 w 740"/>
              <a:gd name="T59" fmla="*/ 499 h 740"/>
              <a:gd name="T60" fmla="*/ 156 w 740"/>
              <a:gd name="T61" fmla="*/ 503 h 740"/>
              <a:gd name="T62" fmla="*/ 146 w 740"/>
              <a:gd name="T63" fmla="*/ 503 h 740"/>
              <a:gd name="T64" fmla="*/ 138 w 740"/>
              <a:gd name="T65" fmla="*/ 498 h 740"/>
              <a:gd name="T66" fmla="*/ 135 w 740"/>
              <a:gd name="T67" fmla="*/ 487 h 740"/>
              <a:gd name="T68" fmla="*/ 137 w 740"/>
              <a:gd name="T69" fmla="*/ 479 h 740"/>
              <a:gd name="T70" fmla="*/ 156 w 740"/>
              <a:gd name="T71" fmla="*/ 458 h 740"/>
              <a:gd name="T72" fmla="*/ 164 w 740"/>
              <a:gd name="T73" fmla="*/ 455 h 740"/>
              <a:gd name="T74" fmla="*/ 673 w 740"/>
              <a:gd name="T75" fmla="*/ 91 h 740"/>
              <a:gd name="T76" fmla="*/ 421 w 740"/>
              <a:gd name="T77" fmla="*/ 680 h 740"/>
              <a:gd name="T78" fmla="*/ 650 w 740"/>
              <a:gd name="T79" fmla="*/ 67 h 740"/>
              <a:gd name="T80" fmla="*/ 299 w 740"/>
              <a:gd name="T81" fmla="*/ 418 h 740"/>
              <a:gd name="T82" fmla="*/ 723 w 740"/>
              <a:gd name="T83" fmla="*/ 0 h 740"/>
              <a:gd name="T84" fmla="*/ 732 w 740"/>
              <a:gd name="T85" fmla="*/ 3 h 740"/>
              <a:gd name="T86" fmla="*/ 739 w 740"/>
              <a:gd name="T87" fmla="*/ 12 h 740"/>
              <a:gd name="T88" fmla="*/ 739 w 740"/>
              <a:gd name="T89" fmla="*/ 21 h 740"/>
              <a:gd name="T90" fmla="*/ 737 w 740"/>
              <a:gd name="T91" fmla="*/ 24 h 740"/>
              <a:gd name="T92" fmla="*/ 435 w 740"/>
              <a:gd name="T93" fmla="*/ 729 h 740"/>
              <a:gd name="T94" fmla="*/ 435 w 740"/>
              <a:gd name="T95" fmla="*/ 729 h 740"/>
              <a:gd name="T96" fmla="*/ 430 w 740"/>
              <a:gd name="T97" fmla="*/ 737 h 740"/>
              <a:gd name="T98" fmla="*/ 421 w 740"/>
              <a:gd name="T99" fmla="*/ 740 h 740"/>
              <a:gd name="T100" fmla="*/ 410 w 740"/>
              <a:gd name="T101" fmla="*/ 736 h 740"/>
              <a:gd name="T102" fmla="*/ 405 w 740"/>
              <a:gd name="T103" fmla="*/ 727 h 740"/>
              <a:gd name="T104" fmla="*/ 290 w 740"/>
              <a:gd name="T105" fmla="*/ 449 h 740"/>
              <a:gd name="T106" fmla="*/ 12 w 740"/>
              <a:gd name="T107" fmla="*/ 335 h 740"/>
              <a:gd name="T108" fmla="*/ 4 w 740"/>
              <a:gd name="T109" fmla="*/ 329 h 740"/>
              <a:gd name="T110" fmla="*/ 0 w 740"/>
              <a:gd name="T111" fmla="*/ 320 h 740"/>
              <a:gd name="T112" fmla="*/ 3 w 740"/>
              <a:gd name="T113" fmla="*/ 311 h 740"/>
              <a:gd name="T114" fmla="*/ 10 w 740"/>
              <a:gd name="T115" fmla="*/ 304 h 740"/>
              <a:gd name="T116" fmla="*/ 11 w 740"/>
              <a:gd name="T117" fmla="*/ 304 h 740"/>
              <a:gd name="T118" fmla="*/ 715 w 740"/>
              <a:gd name="T119" fmla="*/ 2 h 740"/>
              <a:gd name="T120" fmla="*/ 719 w 740"/>
              <a:gd name="T121" fmla="*/ 0 h 7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40" h="740">
                <a:moveTo>
                  <a:pt x="269" y="554"/>
                </a:moveTo>
                <a:lnTo>
                  <a:pt x="274" y="555"/>
                </a:lnTo>
                <a:lnTo>
                  <a:pt x="279" y="558"/>
                </a:lnTo>
                <a:lnTo>
                  <a:pt x="283" y="562"/>
                </a:lnTo>
                <a:lnTo>
                  <a:pt x="284" y="566"/>
                </a:lnTo>
                <a:lnTo>
                  <a:pt x="286" y="571"/>
                </a:lnTo>
                <a:lnTo>
                  <a:pt x="286" y="576"/>
                </a:lnTo>
                <a:lnTo>
                  <a:pt x="283" y="580"/>
                </a:lnTo>
                <a:lnTo>
                  <a:pt x="281" y="583"/>
                </a:lnTo>
                <a:lnTo>
                  <a:pt x="231" y="634"/>
                </a:lnTo>
                <a:lnTo>
                  <a:pt x="227" y="637"/>
                </a:lnTo>
                <a:lnTo>
                  <a:pt x="223" y="638"/>
                </a:lnTo>
                <a:lnTo>
                  <a:pt x="219" y="639"/>
                </a:lnTo>
                <a:lnTo>
                  <a:pt x="214" y="638"/>
                </a:lnTo>
                <a:lnTo>
                  <a:pt x="209" y="635"/>
                </a:lnTo>
                <a:lnTo>
                  <a:pt x="205" y="631"/>
                </a:lnTo>
                <a:lnTo>
                  <a:pt x="203" y="627"/>
                </a:lnTo>
                <a:lnTo>
                  <a:pt x="202" y="622"/>
                </a:lnTo>
                <a:lnTo>
                  <a:pt x="202" y="617"/>
                </a:lnTo>
                <a:lnTo>
                  <a:pt x="205" y="613"/>
                </a:lnTo>
                <a:lnTo>
                  <a:pt x="207" y="610"/>
                </a:lnTo>
                <a:lnTo>
                  <a:pt x="257" y="559"/>
                </a:lnTo>
                <a:lnTo>
                  <a:pt x="261" y="557"/>
                </a:lnTo>
                <a:lnTo>
                  <a:pt x="265" y="555"/>
                </a:lnTo>
                <a:lnTo>
                  <a:pt x="269" y="554"/>
                </a:lnTo>
                <a:close/>
                <a:moveTo>
                  <a:pt x="252" y="470"/>
                </a:moveTo>
                <a:lnTo>
                  <a:pt x="257" y="472"/>
                </a:lnTo>
                <a:lnTo>
                  <a:pt x="262" y="474"/>
                </a:lnTo>
                <a:lnTo>
                  <a:pt x="266" y="477"/>
                </a:lnTo>
                <a:lnTo>
                  <a:pt x="269" y="482"/>
                </a:lnTo>
                <a:lnTo>
                  <a:pt x="269" y="487"/>
                </a:lnTo>
                <a:lnTo>
                  <a:pt x="269" y="491"/>
                </a:lnTo>
                <a:lnTo>
                  <a:pt x="266" y="496"/>
                </a:lnTo>
                <a:lnTo>
                  <a:pt x="263" y="499"/>
                </a:lnTo>
                <a:lnTo>
                  <a:pt x="96" y="667"/>
                </a:lnTo>
                <a:lnTo>
                  <a:pt x="93" y="669"/>
                </a:lnTo>
                <a:lnTo>
                  <a:pt x="88" y="672"/>
                </a:lnTo>
                <a:lnTo>
                  <a:pt x="84" y="672"/>
                </a:lnTo>
                <a:lnTo>
                  <a:pt x="79" y="672"/>
                </a:lnTo>
                <a:lnTo>
                  <a:pt x="74" y="669"/>
                </a:lnTo>
                <a:lnTo>
                  <a:pt x="71" y="665"/>
                </a:lnTo>
                <a:lnTo>
                  <a:pt x="68" y="660"/>
                </a:lnTo>
                <a:lnTo>
                  <a:pt x="67" y="655"/>
                </a:lnTo>
                <a:lnTo>
                  <a:pt x="68" y="651"/>
                </a:lnTo>
                <a:lnTo>
                  <a:pt x="70" y="647"/>
                </a:lnTo>
                <a:lnTo>
                  <a:pt x="72" y="643"/>
                </a:lnTo>
                <a:lnTo>
                  <a:pt x="240" y="476"/>
                </a:lnTo>
                <a:lnTo>
                  <a:pt x="244" y="473"/>
                </a:lnTo>
                <a:lnTo>
                  <a:pt x="248" y="472"/>
                </a:lnTo>
                <a:lnTo>
                  <a:pt x="252" y="470"/>
                </a:lnTo>
                <a:close/>
                <a:moveTo>
                  <a:pt x="168" y="453"/>
                </a:moveTo>
                <a:lnTo>
                  <a:pt x="173" y="455"/>
                </a:lnTo>
                <a:lnTo>
                  <a:pt x="178" y="457"/>
                </a:lnTo>
                <a:lnTo>
                  <a:pt x="182" y="461"/>
                </a:lnTo>
                <a:lnTo>
                  <a:pt x="184" y="465"/>
                </a:lnTo>
                <a:lnTo>
                  <a:pt x="185" y="470"/>
                </a:lnTo>
                <a:lnTo>
                  <a:pt x="185" y="476"/>
                </a:lnTo>
                <a:lnTo>
                  <a:pt x="182" y="479"/>
                </a:lnTo>
                <a:lnTo>
                  <a:pt x="180" y="482"/>
                </a:lnTo>
                <a:lnTo>
                  <a:pt x="163" y="499"/>
                </a:lnTo>
                <a:lnTo>
                  <a:pt x="160" y="502"/>
                </a:lnTo>
                <a:lnTo>
                  <a:pt x="156" y="503"/>
                </a:lnTo>
                <a:lnTo>
                  <a:pt x="151" y="504"/>
                </a:lnTo>
                <a:lnTo>
                  <a:pt x="146" y="503"/>
                </a:lnTo>
                <a:lnTo>
                  <a:pt x="142" y="500"/>
                </a:lnTo>
                <a:lnTo>
                  <a:pt x="138" y="498"/>
                </a:lnTo>
                <a:lnTo>
                  <a:pt x="135" y="493"/>
                </a:lnTo>
                <a:lnTo>
                  <a:pt x="135" y="487"/>
                </a:lnTo>
                <a:lnTo>
                  <a:pt x="135" y="483"/>
                </a:lnTo>
                <a:lnTo>
                  <a:pt x="137" y="479"/>
                </a:lnTo>
                <a:lnTo>
                  <a:pt x="139" y="476"/>
                </a:lnTo>
                <a:lnTo>
                  <a:pt x="156" y="458"/>
                </a:lnTo>
                <a:lnTo>
                  <a:pt x="160" y="456"/>
                </a:lnTo>
                <a:lnTo>
                  <a:pt x="164" y="455"/>
                </a:lnTo>
                <a:lnTo>
                  <a:pt x="168" y="453"/>
                </a:lnTo>
                <a:close/>
                <a:moveTo>
                  <a:pt x="673" y="91"/>
                </a:moveTo>
                <a:lnTo>
                  <a:pt x="322" y="441"/>
                </a:lnTo>
                <a:lnTo>
                  <a:pt x="421" y="680"/>
                </a:lnTo>
                <a:lnTo>
                  <a:pt x="673" y="91"/>
                </a:lnTo>
                <a:close/>
                <a:moveTo>
                  <a:pt x="650" y="67"/>
                </a:moveTo>
                <a:lnTo>
                  <a:pt x="61" y="320"/>
                </a:lnTo>
                <a:lnTo>
                  <a:pt x="299" y="418"/>
                </a:lnTo>
                <a:lnTo>
                  <a:pt x="650" y="67"/>
                </a:lnTo>
                <a:close/>
                <a:moveTo>
                  <a:pt x="723" y="0"/>
                </a:moveTo>
                <a:lnTo>
                  <a:pt x="728" y="2"/>
                </a:lnTo>
                <a:lnTo>
                  <a:pt x="732" y="3"/>
                </a:lnTo>
                <a:lnTo>
                  <a:pt x="736" y="7"/>
                </a:lnTo>
                <a:lnTo>
                  <a:pt x="739" y="12"/>
                </a:lnTo>
                <a:lnTo>
                  <a:pt x="740" y="17"/>
                </a:lnTo>
                <a:lnTo>
                  <a:pt x="739" y="21"/>
                </a:lnTo>
                <a:lnTo>
                  <a:pt x="737" y="24"/>
                </a:lnTo>
                <a:lnTo>
                  <a:pt x="737" y="24"/>
                </a:lnTo>
                <a:lnTo>
                  <a:pt x="436" y="729"/>
                </a:lnTo>
                <a:lnTo>
                  <a:pt x="435" y="729"/>
                </a:lnTo>
                <a:lnTo>
                  <a:pt x="435" y="729"/>
                </a:lnTo>
                <a:lnTo>
                  <a:pt x="435" y="729"/>
                </a:lnTo>
                <a:lnTo>
                  <a:pt x="432" y="733"/>
                </a:lnTo>
                <a:lnTo>
                  <a:pt x="430" y="737"/>
                </a:lnTo>
                <a:lnTo>
                  <a:pt x="425" y="739"/>
                </a:lnTo>
                <a:lnTo>
                  <a:pt x="421" y="740"/>
                </a:lnTo>
                <a:lnTo>
                  <a:pt x="415" y="739"/>
                </a:lnTo>
                <a:lnTo>
                  <a:pt x="410" y="736"/>
                </a:lnTo>
                <a:lnTo>
                  <a:pt x="406" y="732"/>
                </a:lnTo>
                <a:lnTo>
                  <a:pt x="405" y="727"/>
                </a:lnTo>
                <a:lnTo>
                  <a:pt x="404" y="727"/>
                </a:lnTo>
                <a:lnTo>
                  <a:pt x="290" y="449"/>
                </a:lnTo>
                <a:lnTo>
                  <a:pt x="12" y="335"/>
                </a:lnTo>
                <a:lnTo>
                  <a:pt x="12" y="335"/>
                </a:lnTo>
                <a:lnTo>
                  <a:pt x="7" y="333"/>
                </a:lnTo>
                <a:lnTo>
                  <a:pt x="4" y="329"/>
                </a:lnTo>
                <a:lnTo>
                  <a:pt x="2" y="325"/>
                </a:lnTo>
                <a:lnTo>
                  <a:pt x="0" y="320"/>
                </a:lnTo>
                <a:lnTo>
                  <a:pt x="0" y="314"/>
                </a:lnTo>
                <a:lnTo>
                  <a:pt x="3" y="311"/>
                </a:lnTo>
                <a:lnTo>
                  <a:pt x="6" y="307"/>
                </a:lnTo>
                <a:lnTo>
                  <a:pt x="10" y="304"/>
                </a:lnTo>
                <a:lnTo>
                  <a:pt x="10" y="304"/>
                </a:lnTo>
                <a:lnTo>
                  <a:pt x="11" y="304"/>
                </a:lnTo>
                <a:lnTo>
                  <a:pt x="11" y="304"/>
                </a:lnTo>
                <a:lnTo>
                  <a:pt x="715" y="2"/>
                </a:lnTo>
                <a:lnTo>
                  <a:pt x="715" y="2"/>
                </a:lnTo>
                <a:lnTo>
                  <a:pt x="719" y="0"/>
                </a:lnTo>
                <a:lnTo>
                  <a:pt x="723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  <a:prstDash val="solid"/>
            <a:round/>
          </a:ln>
        </p:spPr>
        <p:txBody>
          <a:bodyPr vert="horz" wrap="square" lIns="121882" tIns="60941" rIns="121882" bIns="60941" numCol="1" anchor="t" anchorCtr="0" compatLnSpc="1"/>
          <a:lstStyle/>
          <a:p>
            <a:endParaRPr lang="zh-CN" altLang="en-US" sz="2400"/>
          </a:p>
        </p:txBody>
      </p:sp>
      <p:sp>
        <p:nvSpPr>
          <p:cNvPr id="34" name="菱形 14"/>
          <p:cNvSpPr/>
          <p:nvPr/>
        </p:nvSpPr>
        <p:spPr>
          <a:xfrm>
            <a:off x="4107224" y="4067998"/>
            <a:ext cx="1187880" cy="1188247"/>
          </a:xfrm>
          <a:prstGeom prst="diamond">
            <a:avLst/>
          </a:prstGeom>
          <a:noFill/>
          <a:ln w="38100"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5" name="Freeform 13"/>
          <p:cNvSpPr>
            <a:spLocks noEditPoints="1"/>
          </p:cNvSpPr>
          <p:nvPr/>
        </p:nvSpPr>
        <p:spPr bwMode="auto">
          <a:xfrm>
            <a:off x="4473826" y="4434713"/>
            <a:ext cx="454676" cy="454816"/>
          </a:xfrm>
          <a:custGeom>
            <a:avLst/>
            <a:gdLst>
              <a:gd name="T0" fmla="*/ 338 w 739"/>
              <a:gd name="T1" fmla="*/ 383 h 739"/>
              <a:gd name="T2" fmla="*/ 401 w 739"/>
              <a:gd name="T3" fmla="*/ 383 h 739"/>
              <a:gd name="T4" fmla="*/ 524 w 739"/>
              <a:gd name="T5" fmla="*/ 303 h 739"/>
              <a:gd name="T6" fmla="*/ 406 w 739"/>
              <a:gd name="T7" fmla="*/ 425 h 739"/>
              <a:gd name="T8" fmla="*/ 504 w 739"/>
              <a:gd name="T9" fmla="*/ 470 h 739"/>
              <a:gd name="T10" fmla="*/ 215 w 739"/>
              <a:gd name="T11" fmla="*/ 303 h 739"/>
              <a:gd name="T12" fmla="*/ 257 w 739"/>
              <a:gd name="T13" fmla="*/ 494 h 739"/>
              <a:gd name="T14" fmla="*/ 317 w 739"/>
              <a:gd name="T15" fmla="*/ 411 h 739"/>
              <a:gd name="T16" fmla="*/ 369 w 739"/>
              <a:gd name="T17" fmla="*/ 201 h 739"/>
              <a:gd name="T18" fmla="*/ 321 w 739"/>
              <a:gd name="T19" fmla="*/ 323 h 739"/>
              <a:gd name="T20" fmla="*/ 418 w 739"/>
              <a:gd name="T21" fmla="*/ 323 h 739"/>
              <a:gd name="T22" fmla="*/ 369 w 739"/>
              <a:gd name="T23" fmla="*/ 201 h 739"/>
              <a:gd name="T24" fmla="*/ 537 w 739"/>
              <a:gd name="T25" fmla="*/ 256 h 739"/>
              <a:gd name="T26" fmla="*/ 537 w 739"/>
              <a:gd name="T27" fmla="*/ 483 h 739"/>
              <a:gd name="T28" fmla="*/ 329 w 739"/>
              <a:gd name="T29" fmla="*/ 566 h 739"/>
              <a:gd name="T30" fmla="*/ 172 w 739"/>
              <a:gd name="T31" fmla="*/ 411 h 739"/>
              <a:gd name="T32" fmla="*/ 257 w 739"/>
              <a:gd name="T33" fmla="*/ 202 h 739"/>
              <a:gd name="T34" fmla="*/ 314 w 739"/>
              <a:gd name="T35" fmla="*/ 79 h 739"/>
              <a:gd name="T36" fmla="*/ 215 w 739"/>
              <a:gd name="T37" fmla="*/ 125 h 739"/>
              <a:gd name="T38" fmla="*/ 102 w 739"/>
              <a:gd name="T39" fmla="*/ 162 h 739"/>
              <a:gd name="T40" fmla="*/ 105 w 739"/>
              <a:gd name="T41" fmla="*/ 260 h 739"/>
              <a:gd name="T42" fmla="*/ 33 w 739"/>
              <a:gd name="T43" fmla="*/ 411 h 739"/>
              <a:gd name="T44" fmla="*/ 105 w 739"/>
              <a:gd name="T45" fmla="*/ 479 h 739"/>
              <a:gd name="T46" fmla="*/ 161 w 739"/>
              <a:gd name="T47" fmla="*/ 636 h 739"/>
              <a:gd name="T48" fmla="*/ 215 w 739"/>
              <a:gd name="T49" fmla="*/ 614 h 739"/>
              <a:gd name="T50" fmla="*/ 314 w 739"/>
              <a:gd name="T51" fmla="*/ 659 h 739"/>
              <a:gd name="T52" fmla="*/ 424 w 739"/>
              <a:gd name="T53" fmla="*/ 659 h 739"/>
              <a:gd name="T54" fmla="*/ 524 w 739"/>
              <a:gd name="T55" fmla="*/ 614 h 739"/>
              <a:gd name="T56" fmla="*/ 578 w 739"/>
              <a:gd name="T57" fmla="*/ 636 h 739"/>
              <a:gd name="T58" fmla="*/ 634 w 739"/>
              <a:gd name="T59" fmla="*/ 479 h 739"/>
              <a:gd name="T60" fmla="*/ 706 w 739"/>
              <a:gd name="T61" fmla="*/ 411 h 739"/>
              <a:gd name="T62" fmla="*/ 634 w 739"/>
              <a:gd name="T63" fmla="*/ 260 h 739"/>
              <a:gd name="T64" fmla="*/ 636 w 739"/>
              <a:gd name="T65" fmla="*/ 162 h 739"/>
              <a:gd name="T66" fmla="*/ 524 w 739"/>
              <a:gd name="T67" fmla="*/ 125 h 739"/>
              <a:gd name="T68" fmla="*/ 424 w 739"/>
              <a:gd name="T69" fmla="*/ 79 h 739"/>
              <a:gd name="T70" fmla="*/ 419 w 739"/>
              <a:gd name="T71" fmla="*/ 0 h 739"/>
              <a:gd name="T72" fmla="*/ 492 w 739"/>
              <a:gd name="T73" fmla="*/ 74 h 739"/>
              <a:gd name="T74" fmla="*/ 585 w 739"/>
              <a:gd name="T75" fmla="*/ 68 h 739"/>
              <a:gd name="T76" fmla="*/ 669 w 739"/>
              <a:gd name="T77" fmla="*/ 168 h 739"/>
              <a:gd name="T78" fmla="*/ 723 w 739"/>
              <a:gd name="T79" fmla="*/ 299 h 739"/>
              <a:gd name="T80" fmla="*/ 731 w 739"/>
              <a:gd name="T81" fmla="*/ 434 h 739"/>
              <a:gd name="T82" fmla="*/ 665 w 739"/>
              <a:gd name="T83" fmla="*/ 561 h 739"/>
              <a:gd name="T84" fmla="*/ 591 w 739"/>
              <a:gd name="T85" fmla="*/ 669 h 739"/>
              <a:gd name="T86" fmla="*/ 529 w 739"/>
              <a:gd name="T87" fmla="*/ 646 h 739"/>
              <a:gd name="T88" fmla="*/ 427 w 739"/>
              <a:gd name="T89" fmla="*/ 737 h 739"/>
              <a:gd name="T90" fmla="*/ 295 w 739"/>
              <a:gd name="T91" fmla="*/ 714 h 739"/>
              <a:gd name="T92" fmla="*/ 164 w 739"/>
              <a:gd name="T93" fmla="*/ 671 h 739"/>
              <a:gd name="T94" fmla="*/ 68 w 739"/>
              <a:gd name="T95" fmla="*/ 587 h 739"/>
              <a:gd name="T96" fmla="*/ 60 w 739"/>
              <a:gd name="T97" fmla="*/ 453 h 739"/>
              <a:gd name="T98" fmla="*/ 0 w 739"/>
              <a:gd name="T99" fmla="*/ 320 h 739"/>
              <a:gd name="T100" fmla="*/ 74 w 739"/>
              <a:gd name="T101" fmla="*/ 247 h 739"/>
              <a:gd name="T102" fmla="*/ 74 w 739"/>
              <a:gd name="T103" fmla="*/ 144 h 739"/>
              <a:gd name="T104" fmla="*/ 172 w 739"/>
              <a:gd name="T105" fmla="*/ 70 h 739"/>
              <a:gd name="T106" fmla="*/ 299 w 739"/>
              <a:gd name="T107" fmla="*/ 15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39" h="739">
                <a:moveTo>
                  <a:pt x="369" y="336"/>
                </a:moveTo>
                <a:lnTo>
                  <a:pt x="356" y="339"/>
                </a:lnTo>
                <a:lnTo>
                  <a:pt x="346" y="345"/>
                </a:lnTo>
                <a:lnTo>
                  <a:pt x="338" y="357"/>
                </a:lnTo>
                <a:lnTo>
                  <a:pt x="335" y="370"/>
                </a:lnTo>
                <a:lnTo>
                  <a:pt x="338" y="383"/>
                </a:lnTo>
                <a:lnTo>
                  <a:pt x="346" y="394"/>
                </a:lnTo>
                <a:lnTo>
                  <a:pt x="356" y="400"/>
                </a:lnTo>
                <a:lnTo>
                  <a:pt x="369" y="403"/>
                </a:lnTo>
                <a:lnTo>
                  <a:pt x="382" y="400"/>
                </a:lnTo>
                <a:lnTo>
                  <a:pt x="393" y="394"/>
                </a:lnTo>
                <a:lnTo>
                  <a:pt x="401" y="383"/>
                </a:lnTo>
                <a:lnTo>
                  <a:pt x="403" y="370"/>
                </a:lnTo>
                <a:lnTo>
                  <a:pt x="401" y="357"/>
                </a:lnTo>
                <a:lnTo>
                  <a:pt x="393" y="345"/>
                </a:lnTo>
                <a:lnTo>
                  <a:pt x="382" y="339"/>
                </a:lnTo>
                <a:lnTo>
                  <a:pt x="369" y="336"/>
                </a:lnTo>
                <a:close/>
                <a:moveTo>
                  <a:pt x="524" y="303"/>
                </a:moveTo>
                <a:lnTo>
                  <a:pt x="434" y="353"/>
                </a:lnTo>
                <a:lnTo>
                  <a:pt x="436" y="361"/>
                </a:lnTo>
                <a:lnTo>
                  <a:pt x="436" y="370"/>
                </a:lnTo>
                <a:lnTo>
                  <a:pt x="432" y="392"/>
                </a:lnTo>
                <a:lnTo>
                  <a:pt x="422" y="411"/>
                </a:lnTo>
                <a:lnTo>
                  <a:pt x="406" y="425"/>
                </a:lnTo>
                <a:lnTo>
                  <a:pt x="386" y="434"/>
                </a:lnTo>
                <a:lnTo>
                  <a:pt x="386" y="536"/>
                </a:lnTo>
                <a:lnTo>
                  <a:pt x="422" y="530"/>
                </a:lnTo>
                <a:lnTo>
                  <a:pt x="453" y="515"/>
                </a:lnTo>
                <a:lnTo>
                  <a:pt x="481" y="494"/>
                </a:lnTo>
                <a:lnTo>
                  <a:pt x="504" y="470"/>
                </a:lnTo>
                <a:lnTo>
                  <a:pt x="523" y="439"/>
                </a:lnTo>
                <a:lnTo>
                  <a:pt x="533" y="405"/>
                </a:lnTo>
                <a:lnTo>
                  <a:pt x="537" y="370"/>
                </a:lnTo>
                <a:lnTo>
                  <a:pt x="533" y="335"/>
                </a:lnTo>
                <a:lnTo>
                  <a:pt x="524" y="303"/>
                </a:lnTo>
                <a:close/>
                <a:moveTo>
                  <a:pt x="215" y="303"/>
                </a:moveTo>
                <a:lnTo>
                  <a:pt x="204" y="335"/>
                </a:lnTo>
                <a:lnTo>
                  <a:pt x="202" y="370"/>
                </a:lnTo>
                <a:lnTo>
                  <a:pt x="206" y="405"/>
                </a:lnTo>
                <a:lnTo>
                  <a:pt x="216" y="439"/>
                </a:lnTo>
                <a:lnTo>
                  <a:pt x="235" y="470"/>
                </a:lnTo>
                <a:lnTo>
                  <a:pt x="257" y="494"/>
                </a:lnTo>
                <a:lnTo>
                  <a:pt x="286" y="515"/>
                </a:lnTo>
                <a:lnTo>
                  <a:pt x="317" y="530"/>
                </a:lnTo>
                <a:lnTo>
                  <a:pt x="352" y="536"/>
                </a:lnTo>
                <a:lnTo>
                  <a:pt x="352" y="434"/>
                </a:lnTo>
                <a:lnTo>
                  <a:pt x="333" y="425"/>
                </a:lnTo>
                <a:lnTo>
                  <a:pt x="317" y="411"/>
                </a:lnTo>
                <a:lnTo>
                  <a:pt x="305" y="392"/>
                </a:lnTo>
                <a:lnTo>
                  <a:pt x="303" y="370"/>
                </a:lnTo>
                <a:lnTo>
                  <a:pt x="303" y="361"/>
                </a:lnTo>
                <a:lnTo>
                  <a:pt x="304" y="353"/>
                </a:lnTo>
                <a:lnTo>
                  <a:pt x="215" y="303"/>
                </a:lnTo>
                <a:close/>
                <a:moveTo>
                  <a:pt x="369" y="201"/>
                </a:moveTo>
                <a:lnTo>
                  <a:pt x="335" y="205"/>
                </a:lnTo>
                <a:lnTo>
                  <a:pt x="305" y="214"/>
                </a:lnTo>
                <a:lnTo>
                  <a:pt x="276" y="230"/>
                </a:lnTo>
                <a:lnTo>
                  <a:pt x="252" y="250"/>
                </a:lnTo>
                <a:lnTo>
                  <a:pt x="232" y="273"/>
                </a:lnTo>
                <a:lnTo>
                  <a:pt x="321" y="323"/>
                </a:lnTo>
                <a:lnTo>
                  <a:pt x="334" y="312"/>
                </a:lnTo>
                <a:lnTo>
                  <a:pt x="351" y="305"/>
                </a:lnTo>
                <a:lnTo>
                  <a:pt x="369" y="302"/>
                </a:lnTo>
                <a:lnTo>
                  <a:pt x="388" y="305"/>
                </a:lnTo>
                <a:lnTo>
                  <a:pt x="403" y="312"/>
                </a:lnTo>
                <a:lnTo>
                  <a:pt x="418" y="323"/>
                </a:lnTo>
                <a:lnTo>
                  <a:pt x="507" y="273"/>
                </a:lnTo>
                <a:lnTo>
                  <a:pt x="487" y="250"/>
                </a:lnTo>
                <a:lnTo>
                  <a:pt x="462" y="230"/>
                </a:lnTo>
                <a:lnTo>
                  <a:pt x="434" y="214"/>
                </a:lnTo>
                <a:lnTo>
                  <a:pt x="402" y="205"/>
                </a:lnTo>
                <a:lnTo>
                  <a:pt x="369" y="201"/>
                </a:lnTo>
                <a:close/>
                <a:moveTo>
                  <a:pt x="369" y="168"/>
                </a:moveTo>
                <a:lnTo>
                  <a:pt x="410" y="172"/>
                </a:lnTo>
                <a:lnTo>
                  <a:pt x="448" y="184"/>
                </a:lnTo>
                <a:lnTo>
                  <a:pt x="482" y="202"/>
                </a:lnTo>
                <a:lnTo>
                  <a:pt x="512" y="227"/>
                </a:lnTo>
                <a:lnTo>
                  <a:pt x="537" y="256"/>
                </a:lnTo>
                <a:lnTo>
                  <a:pt x="555" y="292"/>
                </a:lnTo>
                <a:lnTo>
                  <a:pt x="567" y="329"/>
                </a:lnTo>
                <a:lnTo>
                  <a:pt x="571" y="370"/>
                </a:lnTo>
                <a:lnTo>
                  <a:pt x="567" y="411"/>
                </a:lnTo>
                <a:lnTo>
                  <a:pt x="555" y="449"/>
                </a:lnTo>
                <a:lnTo>
                  <a:pt x="537" y="483"/>
                </a:lnTo>
                <a:lnTo>
                  <a:pt x="512" y="511"/>
                </a:lnTo>
                <a:lnTo>
                  <a:pt x="482" y="536"/>
                </a:lnTo>
                <a:lnTo>
                  <a:pt x="448" y="555"/>
                </a:lnTo>
                <a:lnTo>
                  <a:pt x="410" y="566"/>
                </a:lnTo>
                <a:lnTo>
                  <a:pt x="369" y="572"/>
                </a:lnTo>
                <a:lnTo>
                  <a:pt x="329" y="566"/>
                </a:lnTo>
                <a:lnTo>
                  <a:pt x="291" y="555"/>
                </a:lnTo>
                <a:lnTo>
                  <a:pt x="257" y="536"/>
                </a:lnTo>
                <a:lnTo>
                  <a:pt x="227" y="511"/>
                </a:lnTo>
                <a:lnTo>
                  <a:pt x="202" y="483"/>
                </a:lnTo>
                <a:lnTo>
                  <a:pt x="183" y="449"/>
                </a:lnTo>
                <a:lnTo>
                  <a:pt x="172" y="411"/>
                </a:lnTo>
                <a:lnTo>
                  <a:pt x="168" y="370"/>
                </a:lnTo>
                <a:lnTo>
                  <a:pt x="172" y="329"/>
                </a:lnTo>
                <a:lnTo>
                  <a:pt x="183" y="292"/>
                </a:lnTo>
                <a:lnTo>
                  <a:pt x="202" y="256"/>
                </a:lnTo>
                <a:lnTo>
                  <a:pt x="227" y="227"/>
                </a:lnTo>
                <a:lnTo>
                  <a:pt x="257" y="202"/>
                </a:lnTo>
                <a:lnTo>
                  <a:pt x="291" y="184"/>
                </a:lnTo>
                <a:lnTo>
                  <a:pt x="329" y="172"/>
                </a:lnTo>
                <a:lnTo>
                  <a:pt x="369" y="168"/>
                </a:lnTo>
                <a:close/>
                <a:moveTo>
                  <a:pt x="327" y="34"/>
                </a:moveTo>
                <a:lnTo>
                  <a:pt x="318" y="69"/>
                </a:lnTo>
                <a:lnTo>
                  <a:pt x="314" y="79"/>
                </a:lnTo>
                <a:lnTo>
                  <a:pt x="305" y="87"/>
                </a:lnTo>
                <a:lnTo>
                  <a:pt x="295" y="93"/>
                </a:lnTo>
                <a:lnTo>
                  <a:pt x="259" y="104"/>
                </a:lnTo>
                <a:lnTo>
                  <a:pt x="227" y="121"/>
                </a:lnTo>
                <a:lnTo>
                  <a:pt x="220" y="124"/>
                </a:lnTo>
                <a:lnTo>
                  <a:pt x="215" y="125"/>
                </a:lnTo>
                <a:lnTo>
                  <a:pt x="210" y="127"/>
                </a:lnTo>
                <a:lnTo>
                  <a:pt x="203" y="125"/>
                </a:lnTo>
                <a:lnTo>
                  <a:pt x="198" y="124"/>
                </a:lnTo>
                <a:lnTo>
                  <a:pt x="193" y="121"/>
                </a:lnTo>
                <a:lnTo>
                  <a:pt x="161" y="103"/>
                </a:lnTo>
                <a:lnTo>
                  <a:pt x="102" y="162"/>
                </a:lnTo>
                <a:lnTo>
                  <a:pt x="102" y="162"/>
                </a:lnTo>
                <a:lnTo>
                  <a:pt x="121" y="192"/>
                </a:lnTo>
                <a:lnTo>
                  <a:pt x="125" y="204"/>
                </a:lnTo>
                <a:lnTo>
                  <a:pt x="125" y="216"/>
                </a:lnTo>
                <a:lnTo>
                  <a:pt x="121" y="226"/>
                </a:lnTo>
                <a:lnTo>
                  <a:pt x="105" y="260"/>
                </a:lnTo>
                <a:lnTo>
                  <a:pt x="92" y="295"/>
                </a:lnTo>
                <a:lnTo>
                  <a:pt x="87" y="306"/>
                </a:lnTo>
                <a:lnTo>
                  <a:pt x="79" y="315"/>
                </a:lnTo>
                <a:lnTo>
                  <a:pt x="68" y="319"/>
                </a:lnTo>
                <a:lnTo>
                  <a:pt x="33" y="328"/>
                </a:lnTo>
                <a:lnTo>
                  <a:pt x="33" y="411"/>
                </a:lnTo>
                <a:lnTo>
                  <a:pt x="34" y="411"/>
                </a:lnTo>
                <a:lnTo>
                  <a:pt x="68" y="420"/>
                </a:lnTo>
                <a:lnTo>
                  <a:pt x="79" y="425"/>
                </a:lnTo>
                <a:lnTo>
                  <a:pt x="87" y="433"/>
                </a:lnTo>
                <a:lnTo>
                  <a:pt x="92" y="443"/>
                </a:lnTo>
                <a:lnTo>
                  <a:pt x="105" y="479"/>
                </a:lnTo>
                <a:lnTo>
                  <a:pt x="121" y="513"/>
                </a:lnTo>
                <a:lnTo>
                  <a:pt x="125" y="525"/>
                </a:lnTo>
                <a:lnTo>
                  <a:pt x="125" y="536"/>
                </a:lnTo>
                <a:lnTo>
                  <a:pt x="121" y="547"/>
                </a:lnTo>
                <a:lnTo>
                  <a:pt x="102" y="578"/>
                </a:lnTo>
                <a:lnTo>
                  <a:pt x="161" y="636"/>
                </a:lnTo>
                <a:lnTo>
                  <a:pt x="161" y="636"/>
                </a:lnTo>
                <a:lnTo>
                  <a:pt x="193" y="617"/>
                </a:lnTo>
                <a:lnTo>
                  <a:pt x="198" y="615"/>
                </a:lnTo>
                <a:lnTo>
                  <a:pt x="203" y="614"/>
                </a:lnTo>
                <a:lnTo>
                  <a:pt x="210" y="614"/>
                </a:lnTo>
                <a:lnTo>
                  <a:pt x="215" y="614"/>
                </a:lnTo>
                <a:lnTo>
                  <a:pt x="220" y="615"/>
                </a:lnTo>
                <a:lnTo>
                  <a:pt x="227" y="617"/>
                </a:lnTo>
                <a:lnTo>
                  <a:pt x="259" y="634"/>
                </a:lnTo>
                <a:lnTo>
                  <a:pt x="295" y="646"/>
                </a:lnTo>
                <a:lnTo>
                  <a:pt x="305" y="652"/>
                </a:lnTo>
                <a:lnTo>
                  <a:pt x="314" y="659"/>
                </a:lnTo>
                <a:lnTo>
                  <a:pt x="318" y="670"/>
                </a:lnTo>
                <a:lnTo>
                  <a:pt x="327" y="705"/>
                </a:lnTo>
                <a:lnTo>
                  <a:pt x="411" y="705"/>
                </a:lnTo>
                <a:lnTo>
                  <a:pt x="411" y="705"/>
                </a:lnTo>
                <a:lnTo>
                  <a:pt x="419" y="670"/>
                </a:lnTo>
                <a:lnTo>
                  <a:pt x="424" y="659"/>
                </a:lnTo>
                <a:lnTo>
                  <a:pt x="432" y="652"/>
                </a:lnTo>
                <a:lnTo>
                  <a:pt x="444" y="646"/>
                </a:lnTo>
                <a:lnTo>
                  <a:pt x="479" y="634"/>
                </a:lnTo>
                <a:lnTo>
                  <a:pt x="512" y="617"/>
                </a:lnTo>
                <a:lnTo>
                  <a:pt x="517" y="615"/>
                </a:lnTo>
                <a:lnTo>
                  <a:pt x="524" y="614"/>
                </a:lnTo>
                <a:lnTo>
                  <a:pt x="529" y="614"/>
                </a:lnTo>
                <a:lnTo>
                  <a:pt x="536" y="614"/>
                </a:lnTo>
                <a:lnTo>
                  <a:pt x="541" y="615"/>
                </a:lnTo>
                <a:lnTo>
                  <a:pt x="546" y="617"/>
                </a:lnTo>
                <a:lnTo>
                  <a:pt x="578" y="636"/>
                </a:lnTo>
                <a:lnTo>
                  <a:pt x="578" y="636"/>
                </a:lnTo>
                <a:lnTo>
                  <a:pt x="636" y="578"/>
                </a:lnTo>
                <a:lnTo>
                  <a:pt x="618" y="547"/>
                </a:lnTo>
                <a:lnTo>
                  <a:pt x="613" y="536"/>
                </a:lnTo>
                <a:lnTo>
                  <a:pt x="613" y="525"/>
                </a:lnTo>
                <a:lnTo>
                  <a:pt x="617" y="513"/>
                </a:lnTo>
                <a:lnTo>
                  <a:pt x="634" y="479"/>
                </a:lnTo>
                <a:lnTo>
                  <a:pt x="646" y="443"/>
                </a:lnTo>
                <a:lnTo>
                  <a:pt x="651" y="433"/>
                </a:lnTo>
                <a:lnTo>
                  <a:pt x="660" y="425"/>
                </a:lnTo>
                <a:lnTo>
                  <a:pt x="670" y="420"/>
                </a:lnTo>
                <a:lnTo>
                  <a:pt x="704" y="411"/>
                </a:lnTo>
                <a:lnTo>
                  <a:pt x="706" y="411"/>
                </a:lnTo>
                <a:lnTo>
                  <a:pt x="706" y="328"/>
                </a:lnTo>
                <a:lnTo>
                  <a:pt x="670" y="319"/>
                </a:lnTo>
                <a:lnTo>
                  <a:pt x="660" y="315"/>
                </a:lnTo>
                <a:lnTo>
                  <a:pt x="651" y="306"/>
                </a:lnTo>
                <a:lnTo>
                  <a:pt x="646" y="295"/>
                </a:lnTo>
                <a:lnTo>
                  <a:pt x="634" y="260"/>
                </a:lnTo>
                <a:lnTo>
                  <a:pt x="617" y="226"/>
                </a:lnTo>
                <a:lnTo>
                  <a:pt x="613" y="216"/>
                </a:lnTo>
                <a:lnTo>
                  <a:pt x="613" y="204"/>
                </a:lnTo>
                <a:lnTo>
                  <a:pt x="618" y="192"/>
                </a:lnTo>
                <a:lnTo>
                  <a:pt x="636" y="162"/>
                </a:lnTo>
                <a:lnTo>
                  <a:pt x="636" y="162"/>
                </a:lnTo>
                <a:lnTo>
                  <a:pt x="578" y="103"/>
                </a:lnTo>
                <a:lnTo>
                  <a:pt x="546" y="121"/>
                </a:lnTo>
                <a:lnTo>
                  <a:pt x="541" y="124"/>
                </a:lnTo>
                <a:lnTo>
                  <a:pt x="536" y="125"/>
                </a:lnTo>
                <a:lnTo>
                  <a:pt x="529" y="127"/>
                </a:lnTo>
                <a:lnTo>
                  <a:pt x="524" y="125"/>
                </a:lnTo>
                <a:lnTo>
                  <a:pt x="517" y="124"/>
                </a:lnTo>
                <a:lnTo>
                  <a:pt x="512" y="121"/>
                </a:lnTo>
                <a:lnTo>
                  <a:pt x="479" y="104"/>
                </a:lnTo>
                <a:lnTo>
                  <a:pt x="444" y="93"/>
                </a:lnTo>
                <a:lnTo>
                  <a:pt x="432" y="87"/>
                </a:lnTo>
                <a:lnTo>
                  <a:pt x="424" y="79"/>
                </a:lnTo>
                <a:lnTo>
                  <a:pt x="419" y="69"/>
                </a:lnTo>
                <a:lnTo>
                  <a:pt x="411" y="34"/>
                </a:lnTo>
                <a:lnTo>
                  <a:pt x="411" y="34"/>
                </a:lnTo>
                <a:lnTo>
                  <a:pt x="327" y="34"/>
                </a:lnTo>
                <a:close/>
                <a:moveTo>
                  <a:pt x="320" y="0"/>
                </a:moveTo>
                <a:lnTo>
                  <a:pt x="419" y="0"/>
                </a:lnTo>
                <a:lnTo>
                  <a:pt x="427" y="2"/>
                </a:lnTo>
                <a:lnTo>
                  <a:pt x="435" y="7"/>
                </a:lnTo>
                <a:lnTo>
                  <a:pt x="440" y="15"/>
                </a:lnTo>
                <a:lnTo>
                  <a:pt x="443" y="24"/>
                </a:lnTo>
                <a:lnTo>
                  <a:pt x="452" y="60"/>
                </a:lnTo>
                <a:lnTo>
                  <a:pt x="492" y="74"/>
                </a:lnTo>
                <a:lnTo>
                  <a:pt x="529" y="93"/>
                </a:lnTo>
                <a:lnTo>
                  <a:pt x="560" y="73"/>
                </a:lnTo>
                <a:lnTo>
                  <a:pt x="567" y="70"/>
                </a:lnTo>
                <a:lnTo>
                  <a:pt x="574" y="68"/>
                </a:lnTo>
                <a:lnTo>
                  <a:pt x="580" y="68"/>
                </a:lnTo>
                <a:lnTo>
                  <a:pt x="585" y="68"/>
                </a:lnTo>
                <a:lnTo>
                  <a:pt x="591" y="70"/>
                </a:lnTo>
                <a:lnTo>
                  <a:pt x="596" y="73"/>
                </a:lnTo>
                <a:lnTo>
                  <a:pt x="665" y="144"/>
                </a:lnTo>
                <a:lnTo>
                  <a:pt x="670" y="151"/>
                </a:lnTo>
                <a:lnTo>
                  <a:pt x="672" y="159"/>
                </a:lnTo>
                <a:lnTo>
                  <a:pt x="669" y="168"/>
                </a:lnTo>
                <a:lnTo>
                  <a:pt x="665" y="178"/>
                </a:lnTo>
                <a:lnTo>
                  <a:pt x="647" y="209"/>
                </a:lnTo>
                <a:lnTo>
                  <a:pt x="665" y="247"/>
                </a:lnTo>
                <a:lnTo>
                  <a:pt x="678" y="286"/>
                </a:lnTo>
                <a:lnTo>
                  <a:pt x="714" y="295"/>
                </a:lnTo>
                <a:lnTo>
                  <a:pt x="723" y="299"/>
                </a:lnTo>
                <a:lnTo>
                  <a:pt x="731" y="305"/>
                </a:lnTo>
                <a:lnTo>
                  <a:pt x="737" y="311"/>
                </a:lnTo>
                <a:lnTo>
                  <a:pt x="739" y="320"/>
                </a:lnTo>
                <a:lnTo>
                  <a:pt x="739" y="418"/>
                </a:lnTo>
                <a:lnTo>
                  <a:pt x="737" y="428"/>
                </a:lnTo>
                <a:lnTo>
                  <a:pt x="731" y="434"/>
                </a:lnTo>
                <a:lnTo>
                  <a:pt x="723" y="439"/>
                </a:lnTo>
                <a:lnTo>
                  <a:pt x="714" y="443"/>
                </a:lnTo>
                <a:lnTo>
                  <a:pt x="678" y="453"/>
                </a:lnTo>
                <a:lnTo>
                  <a:pt x="665" y="492"/>
                </a:lnTo>
                <a:lnTo>
                  <a:pt x="647" y="530"/>
                </a:lnTo>
                <a:lnTo>
                  <a:pt x="665" y="561"/>
                </a:lnTo>
                <a:lnTo>
                  <a:pt x="669" y="570"/>
                </a:lnTo>
                <a:lnTo>
                  <a:pt x="672" y="580"/>
                </a:lnTo>
                <a:lnTo>
                  <a:pt x="670" y="587"/>
                </a:lnTo>
                <a:lnTo>
                  <a:pt x="665" y="597"/>
                </a:lnTo>
                <a:lnTo>
                  <a:pt x="596" y="666"/>
                </a:lnTo>
                <a:lnTo>
                  <a:pt x="591" y="669"/>
                </a:lnTo>
                <a:lnTo>
                  <a:pt x="587" y="671"/>
                </a:lnTo>
                <a:lnTo>
                  <a:pt x="581" y="671"/>
                </a:lnTo>
                <a:lnTo>
                  <a:pt x="574" y="671"/>
                </a:lnTo>
                <a:lnTo>
                  <a:pt x="567" y="669"/>
                </a:lnTo>
                <a:lnTo>
                  <a:pt x="560" y="666"/>
                </a:lnTo>
                <a:lnTo>
                  <a:pt x="529" y="646"/>
                </a:lnTo>
                <a:lnTo>
                  <a:pt x="492" y="665"/>
                </a:lnTo>
                <a:lnTo>
                  <a:pt x="452" y="679"/>
                </a:lnTo>
                <a:lnTo>
                  <a:pt x="443" y="714"/>
                </a:lnTo>
                <a:lnTo>
                  <a:pt x="440" y="724"/>
                </a:lnTo>
                <a:lnTo>
                  <a:pt x="435" y="731"/>
                </a:lnTo>
                <a:lnTo>
                  <a:pt x="427" y="737"/>
                </a:lnTo>
                <a:lnTo>
                  <a:pt x="419" y="739"/>
                </a:lnTo>
                <a:lnTo>
                  <a:pt x="320" y="739"/>
                </a:lnTo>
                <a:lnTo>
                  <a:pt x="310" y="737"/>
                </a:lnTo>
                <a:lnTo>
                  <a:pt x="304" y="731"/>
                </a:lnTo>
                <a:lnTo>
                  <a:pt x="299" y="724"/>
                </a:lnTo>
                <a:lnTo>
                  <a:pt x="295" y="714"/>
                </a:lnTo>
                <a:lnTo>
                  <a:pt x="287" y="679"/>
                </a:lnTo>
                <a:lnTo>
                  <a:pt x="246" y="665"/>
                </a:lnTo>
                <a:lnTo>
                  <a:pt x="210" y="646"/>
                </a:lnTo>
                <a:lnTo>
                  <a:pt x="177" y="666"/>
                </a:lnTo>
                <a:lnTo>
                  <a:pt x="170" y="669"/>
                </a:lnTo>
                <a:lnTo>
                  <a:pt x="164" y="671"/>
                </a:lnTo>
                <a:lnTo>
                  <a:pt x="157" y="671"/>
                </a:lnTo>
                <a:lnTo>
                  <a:pt x="152" y="671"/>
                </a:lnTo>
                <a:lnTo>
                  <a:pt x="147" y="669"/>
                </a:lnTo>
                <a:lnTo>
                  <a:pt x="143" y="666"/>
                </a:lnTo>
                <a:lnTo>
                  <a:pt x="74" y="597"/>
                </a:lnTo>
                <a:lnTo>
                  <a:pt x="68" y="587"/>
                </a:lnTo>
                <a:lnTo>
                  <a:pt x="67" y="580"/>
                </a:lnTo>
                <a:lnTo>
                  <a:pt x="70" y="570"/>
                </a:lnTo>
                <a:lnTo>
                  <a:pt x="74" y="561"/>
                </a:lnTo>
                <a:lnTo>
                  <a:pt x="92" y="530"/>
                </a:lnTo>
                <a:lnTo>
                  <a:pt x="74" y="492"/>
                </a:lnTo>
                <a:lnTo>
                  <a:pt x="60" y="453"/>
                </a:lnTo>
                <a:lnTo>
                  <a:pt x="24" y="443"/>
                </a:lnTo>
                <a:lnTo>
                  <a:pt x="16" y="439"/>
                </a:lnTo>
                <a:lnTo>
                  <a:pt x="8" y="434"/>
                </a:lnTo>
                <a:lnTo>
                  <a:pt x="2" y="428"/>
                </a:lnTo>
                <a:lnTo>
                  <a:pt x="0" y="418"/>
                </a:lnTo>
                <a:lnTo>
                  <a:pt x="0" y="320"/>
                </a:lnTo>
                <a:lnTo>
                  <a:pt x="2" y="311"/>
                </a:lnTo>
                <a:lnTo>
                  <a:pt x="8" y="305"/>
                </a:lnTo>
                <a:lnTo>
                  <a:pt x="16" y="299"/>
                </a:lnTo>
                <a:lnTo>
                  <a:pt x="24" y="295"/>
                </a:lnTo>
                <a:lnTo>
                  <a:pt x="60" y="286"/>
                </a:lnTo>
                <a:lnTo>
                  <a:pt x="74" y="247"/>
                </a:lnTo>
                <a:lnTo>
                  <a:pt x="92" y="209"/>
                </a:lnTo>
                <a:lnTo>
                  <a:pt x="74" y="178"/>
                </a:lnTo>
                <a:lnTo>
                  <a:pt x="70" y="168"/>
                </a:lnTo>
                <a:lnTo>
                  <a:pt x="67" y="159"/>
                </a:lnTo>
                <a:lnTo>
                  <a:pt x="68" y="151"/>
                </a:lnTo>
                <a:lnTo>
                  <a:pt x="74" y="144"/>
                </a:lnTo>
                <a:lnTo>
                  <a:pt x="143" y="73"/>
                </a:lnTo>
                <a:lnTo>
                  <a:pt x="147" y="70"/>
                </a:lnTo>
                <a:lnTo>
                  <a:pt x="152" y="68"/>
                </a:lnTo>
                <a:lnTo>
                  <a:pt x="157" y="68"/>
                </a:lnTo>
                <a:lnTo>
                  <a:pt x="165" y="68"/>
                </a:lnTo>
                <a:lnTo>
                  <a:pt x="172" y="70"/>
                </a:lnTo>
                <a:lnTo>
                  <a:pt x="177" y="73"/>
                </a:lnTo>
                <a:lnTo>
                  <a:pt x="210" y="93"/>
                </a:lnTo>
                <a:lnTo>
                  <a:pt x="246" y="74"/>
                </a:lnTo>
                <a:lnTo>
                  <a:pt x="287" y="60"/>
                </a:lnTo>
                <a:lnTo>
                  <a:pt x="295" y="24"/>
                </a:lnTo>
                <a:lnTo>
                  <a:pt x="299" y="15"/>
                </a:lnTo>
                <a:lnTo>
                  <a:pt x="304" y="7"/>
                </a:lnTo>
                <a:lnTo>
                  <a:pt x="310" y="2"/>
                </a:lnTo>
                <a:lnTo>
                  <a:pt x="32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  <a:prstDash val="solid"/>
            <a:round/>
          </a:ln>
        </p:spPr>
        <p:txBody>
          <a:bodyPr vert="horz" wrap="square" lIns="121882" tIns="60941" rIns="121882" bIns="60941" numCol="1" anchor="t" anchorCtr="0" compatLnSpc="1"/>
          <a:lstStyle/>
          <a:p>
            <a:endParaRPr lang="zh-CN" altLang="en-US" sz="2400"/>
          </a:p>
        </p:txBody>
      </p:sp>
      <p:sp>
        <p:nvSpPr>
          <p:cNvPr id="36" name="菱形 16"/>
          <p:cNvSpPr/>
          <p:nvPr/>
        </p:nvSpPr>
        <p:spPr>
          <a:xfrm>
            <a:off x="5054163" y="2868564"/>
            <a:ext cx="1187880" cy="1188247"/>
          </a:xfrm>
          <a:prstGeom prst="diamond">
            <a:avLst/>
          </a:prstGeom>
          <a:noFill/>
          <a:ln w="38100"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7" name="Freeform 50"/>
          <p:cNvSpPr>
            <a:spLocks noEditPoints="1"/>
          </p:cNvSpPr>
          <p:nvPr/>
        </p:nvSpPr>
        <p:spPr bwMode="auto">
          <a:xfrm>
            <a:off x="5420736" y="3276628"/>
            <a:ext cx="454736" cy="372120"/>
          </a:xfrm>
          <a:custGeom>
            <a:avLst/>
            <a:gdLst>
              <a:gd name="T0" fmla="*/ 707 w 819"/>
              <a:gd name="T1" fmla="*/ 107 h 670"/>
              <a:gd name="T2" fmla="*/ 733 w 819"/>
              <a:gd name="T3" fmla="*/ 246 h 670"/>
              <a:gd name="T4" fmla="*/ 721 w 819"/>
              <a:gd name="T5" fmla="*/ 326 h 670"/>
              <a:gd name="T6" fmla="*/ 700 w 819"/>
              <a:gd name="T7" fmla="*/ 420 h 670"/>
              <a:gd name="T8" fmla="*/ 741 w 819"/>
              <a:gd name="T9" fmla="*/ 465 h 670"/>
              <a:gd name="T10" fmla="*/ 817 w 819"/>
              <a:gd name="T11" fmla="*/ 551 h 670"/>
              <a:gd name="T12" fmla="*/ 816 w 819"/>
              <a:gd name="T13" fmla="*/ 589 h 670"/>
              <a:gd name="T14" fmla="*/ 700 w 819"/>
              <a:gd name="T15" fmla="*/ 558 h 670"/>
              <a:gd name="T16" fmla="*/ 717 w 819"/>
              <a:gd name="T17" fmla="*/ 496 h 670"/>
              <a:gd name="T18" fmla="*/ 662 w 819"/>
              <a:gd name="T19" fmla="*/ 376 h 670"/>
              <a:gd name="T20" fmla="*/ 691 w 819"/>
              <a:gd name="T21" fmla="*/ 304 h 670"/>
              <a:gd name="T22" fmla="*/ 698 w 819"/>
              <a:gd name="T23" fmla="*/ 233 h 670"/>
              <a:gd name="T24" fmla="*/ 685 w 819"/>
              <a:gd name="T25" fmla="*/ 137 h 670"/>
              <a:gd name="T26" fmla="*/ 630 w 819"/>
              <a:gd name="T27" fmla="*/ 113 h 670"/>
              <a:gd name="T28" fmla="*/ 615 w 819"/>
              <a:gd name="T29" fmla="*/ 75 h 670"/>
              <a:gd name="T30" fmla="*/ 228 w 819"/>
              <a:gd name="T31" fmla="*/ 116 h 670"/>
              <a:gd name="T32" fmla="*/ 157 w 819"/>
              <a:gd name="T33" fmla="*/ 124 h 670"/>
              <a:gd name="T34" fmla="*/ 113 w 819"/>
              <a:gd name="T35" fmla="*/ 190 h 670"/>
              <a:gd name="T36" fmla="*/ 127 w 819"/>
              <a:gd name="T37" fmla="*/ 284 h 670"/>
              <a:gd name="T38" fmla="*/ 142 w 819"/>
              <a:gd name="T39" fmla="*/ 323 h 670"/>
              <a:gd name="T40" fmla="*/ 139 w 819"/>
              <a:gd name="T41" fmla="*/ 466 h 670"/>
              <a:gd name="T42" fmla="*/ 53 w 819"/>
              <a:gd name="T43" fmla="*/ 525 h 670"/>
              <a:gd name="T44" fmla="*/ 13 w 819"/>
              <a:gd name="T45" fmla="*/ 594 h 670"/>
              <a:gd name="T46" fmla="*/ 0 w 819"/>
              <a:gd name="T47" fmla="*/ 579 h 670"/>
              <a:gd name="T48" fmla="*/ 40 w 819"/>
              <a:gd name="T49" fmla="*/ 486 h 670"/>
              <a:gd name="T50" fmla="*/ 100 w 819"/>
              <a:gd name="T51" fmla="*/ 454 h 670"/>
              <a:gd name="T52" fmla="*/ 113 w 819"/>
              <a:gd name="T53" fmla="*/ 349 h 670"/>
              <a:gd name="T54" fmla="*/ 89 w 819"/>
              <a:gd name="T55" fmla="*/ 300 h 670"/>
              <a:gd name="T56" fmla="*/ 81 w 819"/>
              <a:gd name="T57" fmla="*/ 161 h 670"/>
              <a:gd name="T58" fmla="*/ 168 w 819"/>
              <a:gd name="T59" fmla="*/ 80 h 670"/>
              <a:gd name="T60" fmla="*/ 375 w 819"/>
              <a:gd name="T61" fmla="*/ 51 h 670"/>
              <a:gd name="T62" fmla="*/ 299 w 819"/>
              <a:gd name="T63" fmla="*/ 145 h 670"/>
              <a:gd name="T64" fmla="*/ 322 w 819"/>
              <a:gd name="T65" fmla="*/ 238 h 670"/>
              <a:gd name="T66" fmla="*/ 320 w 819"/>
              <a:gd name="T67" fmla="*/ 300 h 670"/>
              <a:gd name="T68" fmla="*/ 351 w 819"/>
              <a:gd name="T69" fmla="*/ 346 h 670"/>
              <a:gd name="T70" fmla="*/ 331 w 819"/>
              <a:gd name="T71" fmla="*/ 507 h 670"/>
              <a:gd name="T72" fmla="*/ 232 w 819"/>
              <a:gd name="T73" fmla="*/ 559 h 670"/>
              <a:gd name="T74" fmla="*/ 644 w 819"/>
              <a:gd name="T75" fmla="*/ 613 h 670"/>
              <a:gd name="T76" fmla="*/ 547 w 819"/>
              <a:gd name="T77" fmla="*/ 542 h 670"/>
              <a:gd name="T78" fmla="*/ 457 w 819"/>
              <a:gd name="T79" fmla="*/ 448 h 670"/>
              <a:gd name="T80" fmla="*/ 495 w 819"/>
              <a:gd name="T81" fmla="*/ 306 h 670"/>
              <a:gd name="T82" fmla="*/ 504 w 819"/>
              <a:gd name="T83" fmla="*/ 289 h 670"/>
              <a:gd name="T84" fmla="*/ 516 w 819"/>
              <a:gd name="T85" fmla="*/ 203 h 670"/>
              <a:gd name="T86" fmla="*/ 488 w 819"/>
              <a:gd name="T87" fmla="*/ 67 h 670"/>
              <a:gd name="T88" fmla="*/ 450 w 819"/>
              <a:gd name="T89" fmla="*/ 1 h 670"/>
              <a:gd name="T90" fmla="*/ 551 w 819"/>
              <a:gd name="T91" fmla="*/ 119 h 670"/>
              <a:gd name="T92" fmla="*/ 542 w 819"/>
              <a:gd name="T93" fmla="*/ 285 h 670"/>
              <a:gd name="T94" fmla="*/ 517 w 819"/>
              <a:gd name="T95" fmla="*/ 338 h 670"/>
              <a:gd name="T96" fmla="*/ 500 w 819"/>
              <a:gd name="T97" fmla="*/ 459 h 670"/>
              <a:gd name="T98" fmla="*/ 558 w 819"/>
              <a:gd name="T99" fmla="*/ 507 h 670"/>
              <a:gd name="T100" fmla="*/ 669 w 819"/>
              <a:gd name="T101" fmla="*/ 579 h 670"/>
              <a:gd name="T102" fmla="*/ 687 w 819"/>
              <a:gd name="T103" fmla="*/ 658 h 670"/>
              <a:gd name="T104" fmla="*/ 149 w 819"/>
              <a:gd name="T105" fmla="*/ 670 h 670"/>
              <a:gd name="T106" fmla="*/ 131 w 819"/>
              <a:gd name="T107" fmla="*/ 656 h 670"/>
              <a:gd name="T108" fmla="*/ 164 w 819"/>
              <a:gd name="T109" fmla="*/ 562 h 670"/>
              <a:gd name="T110" fmla="*/ 263 w 819"/>
              <a:gd name="T111" fmla="*/ 505 h 670"/>
              <a:gd name="T112" fmla="*/ 326 w 819"/>
              <a:gd name="T113" fmla="*/ 442 h 670"/>
              <a:gd name="T114" fmla="*/ 296 w 819"/>
              <a:gd name="T115" fmla="*/ 330 h 670"/>
              <a:gd name="T116" fmla="*/ 280 w 819"/>
              <a:gd name="T117" fmla="*/ 264 h 670"/>
              <a:gd name="T118" fmla="*/ 269 w 819"/>
              <a:gd name="T119" fmla="*/ 110 h 670"/>
              <a:gd name="T120" fmla="*/ 367 w 819"/>
              <a:gd name="T121" fmla="*/ 13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819" h="670">
                <a:moveTo>
                  <a:pt x="615" y="75"/>
                </a:moveTo>
                <a:lnTo>
                  <a:pt x="635" y="76"/>
                </a:lnTo>
                <a:lnTo>
                  <a:pt x="652" y="80"/>
                </a:lnTo>
                <a:lnTo>
                  <a:pt x="668" y="85"/>
                </a:lnTo>
                <a:lnTo>
                  <a:pt x="678" y="90"/>
                </a:lnTo>
                <a:lnTo>
                  <a:pt x="694" y="98"/>
                </a:lnTo>
                <a:lnTo>
                  <a:pt x="707" y="107"/>
                </a:lnTo>
                <a:lnTo>
                  <a:pt x="717" y="119"/>
                </a:lnTo>
                <a:lnTo>
                  <a:pt x="728" y="137"/>
                </a:lnTo>
                <a:lnTo>
                  <a:pt x="738" y="161"/>
                </a:lnTo>
                <a:lnTo>
                  <a:pt x="745" y="183"/>
                </a:lnTo>
                <a:lnTo>
                  <a:pt x="744" y="207"/>
                </a:lnTo>
                <a:lnTo>
                  <a:pt x="740" y="228"/>
                </a:lnTo>
                <a:lnTo>
                  <a:pt x="733" y="246"/>
                </a:lnTo>
                <a:lnTo>
                  <a:pt x="727" y="262"/>
                </a:lnTo>
                <a:lnTo>
                  <a:pt x="729" y="283"/>
                </a:lnTo>
                <a:lnTo>
                  <a:pt x="730" y="300"/>
                </a:lnTo>
                <a:lnTo>
                  <a:pt x="728" y="311"/>
                </a:lnTo>
                <a:lnTo>
                  <a:pt x="725" y="319"/>
                </a:lnTo>
                <a:lnTo>
                  <a:pt x="723" y="325"/>
                </a:lnTo>
                <a:lnTo>
                  <a:pt x="721" y="326"/>
                </a:lnTo>
                <a:lnTo>
                  <a:pt x="717" y="332"/>
                </a:lnTo>
                <a:lnTo>
                  <a:pt x="712" y="340"/>
                </a:lnTo>
                <a:lnTo>
                  <a:pt x="707" y="349"/>
                </a:lnTo>
                <a:lnTo>
                  <a:pt x="703" y="364"/>
                </a:lnTo>
                <a:lnTo>
                  <a:pt x="700" y="380"/>
                </a:lnTo>
                <a:lnTo>
                  <a:pt x="699" y="402"/>
                </a:lnTo>
                <a:lnTo>
                  <a:pt x="700" y="420"/>
                </a:lnTo>
                <a:lnTo>
                  <a:pt x="706" y="435"/>
                </a:lnTo>
                <a:lnTo>
                  <a:pt x="712" y="445"/>
                </a:lnTo>
                <a:lnTo>
                  <a:pt x="720" y="454"/>
                </a:lnTo>
                <a:lnTo>
                  <a:pt x="727" y="459"/>
                </a:lnTo>
                <a:lnTo>
                  <a:pt x="734" y="463"/>
                </a:lnTo>
                <a:lnTo>
                  <a:pt x="738" y="465"/>
                </a:lnTo>
                <a:lnTo>
                  <a:pt x="741" y="465"/>
                </a:lnTo>
                <a:lnTo>
                  <a:pt x="754" y="470"/>
                </a:lnTo>
                <a:lnTo>
                  <a:pt x="767" y="478"/>
                </a:lnTo>
                <a:lnTo>
                  <a:pt x="780" y="486"/>
                </a:lnTo>
                <a:lnTo>
                  <a:pt x="792" y="497"/>
                </a:lnTo>
                <a:lnTo>
                  <a:pt x="804" y="512"/>
                </a:lnTo>
                <a:lnTo>
                  <a:pt x="812" y="530"/>
                </a:lnTo>
                <a:lnTo>
                  <a:pt x="817" y="551"/>
                </a:lnTo>
                <a:lnTo>
                  <a:pt x="819" y="577"/>
                </a:lnTo>
                <a:lnTo>
                  <a:pt x="819" y="577"/>
                </a:lnTo>
                <a:lnTo>
                  <a:pt x="819" y="579"/>
                </a:lnTo>
                <a:lnTo>
                  <a:pt x="819" y="581"/>
                </a:lnTo>
                <a:lnTo>
                  <a:pt x="818" y="584"/>
                </a:lnTo>
                <a:lnTo>
                  <a:pt x="817" y="586"/>
                </a:lnTo>
                <a:lnTo>
                  <a:pt x="816" y="589"/>
                </a:lnTo>
                <a:lnTo>
                  <a:pt x="813" y="592"/>
                </a:lnTo>
                <a:lnTo>
                  <a:pt x="810" y="593"/>
                </a:lnTo>
                <a:lnTo>
                  <a:pt x="806" y="594"/>
                </a:lnTo>
                <a:lnTo>
                  <a:pt x="801" y="596"/>
                </a:lnTo>
                <a:lnTo>
                  <a:pt x="717" y="596"/>
                </a:lnTo>
                <a:lnTo>
                  <a:pt x="710" y="576"/>
                </a:lnTo>
                <a:lnTo>
                  <a:pt x="700" y="558"/>
                </a:lnTo>
                <a:lnTo>
                  <a:pt x="780" y="558"/>
                </a:lnTo>
                <a:lnTo>
                  <a:pt x="776" y="539"/>
                </a:lnTo>
                <a:lnTo>
                  <a:pt x="767" y="525"/>
                </a:lnTo>
                <a:lnTo>
                  <a:pt x="757" y="514"/>
                </a:lnTo>
                <a:lnTo>
                  <a:pt x="744" y="507"/>
                </a:lnTo>
                <a:lnTo>
                  <a:pt x="729" y="501"/>
                </a:lnTo>
                <a:lnTo>
                  <a:pt x="717" y="496"/>
                </a:lnTo>
                <a:lnTo>
                  <a:pt x="706" y="490"/>
                </a:lnTo>
                <a:lnTo>
                  <a:pt x="693" y="479"/>
                </a:lnTo>
                <a:lnTo>
                  <a:pt x="681" y="466"/>
                </a:lnTo>
                <a:lnTo>
                  <a:pt x="670" y="448"/>
                </a:lnTo>
                <a:lnTo>
                  <a:pt x="664" y="427"/>
                </a:lnTo>
                <a:lnTo>
                  <a:pt x="661" y="402"/>
                </a:lnTo>
                <a:lnTo>
                  <a:pt x="662" y="376"/>
                </a:lnTo>
                <a:lnTo>
                  <a:pt x="666" y="355"/>
                </a:lnTo>
                <a:lnTo>
                  <a:pt x="672" y="336"/>
                </a:lnTo>
                <a:lnTo>
                  <a:pt x="678" y="323"/>
                </a:lnTo>
                <a:lnTo>
                  <a:pt x="685" y="313"/>
                </a:lnTo>
                <a:lnTo>
                  <a:pt x="690" y="305"/>
                </a:lnTo>
                <a:lnTo>
                  <a:pt x="691" y="304"/>
                </a:lnTo>
                <a:lnTo>
                  <a:pt x="691" y="304"/>
                </a:lnTo>
                <a:lnTo>
                  <a:pt x="693" y="300"/>
                </a:lnTo>
                <a:lnTo>
                  <a:pt x="693" y="293"/>
                </a:lnTo>
                <a:lnTo>
                  <a:pt x="693" y="284"/>
                </a:lnTo>
                <a:lnTo>
                  <a:pt x="690" y="270"/>
                </a:lnTo>
                <a:lnTo>
                  <a:pt x="689" y="258"/>
                </a:lnTo>
                <a:lnTo>
                  <a:pt x="693" y="245"/>
                </a:lnTo>
                <a:lnTo>
                  <a:pt x="698" y="233"/>
                </a:lnTo>
                <a:lnTo>
                  <a:pt x="703" y="220"/>
                </a:lnTo>
                <a:lnTo>
                  <a:pt x="707" y="204"/>
                </a:lnTo>
                <a:lnTo>
                  <a:pt x="707" y="190"/>
                </a:lnTo>
                <a:lnTo>
                  <a:pt x="704" y="174"/>
                </a:lnTo>
                <a:lnTo>
                  <a:pt x="696" y="157"/>
                </a:lnTo>
                <a:lnTo>
                  <a:pt x="690" y="145"/>
                </a:lnTo>
                <a:lnTo>
                  <a:pt x="685" y="137"/>
                </a:lnTo>
                <a:lnTo>
                  <a:pt x="678" y="132"/>
                </a:lnTo>
                <a:lnTo>
                  <a:pt x="672" y="128"/>
                </a:lnTo>
                <a:lnTo>
                  <a:pt x="662" y="124"/>
                </a:lnTo>
                <a:lnTo>
                  <a:pt x="657" y="122"/>
                </a:lnTo>
                <a:lnTo>
                  <a:pt x="652" y="118"/>
                </a:lnTo>
                <a:lnTo>
                  <a:pt x="641" y="115"/>
                </a:lnTo>
                <a:lnTo>
                  <a:pt x="630" y="113"/>
                </a:lnTo>
                <a:lnTo>
                  <a:pt x="615" y="111"/>
                </a:lnTo>
                <a:lnTo>
                  <a:pt x="601" y="113"/>
                </a:lnTo>
                <a:lnTo>
                  <a:pt x="590" y="116"/>
                </a:lnTo>
                <a:lnTo>
                  <a:pt x="589" y="118"/>
                </a:lnTo>
                <a:lnTo>
                  <a:pt x="577" y="81"/>
                </a:lnTo>
                <a:lnTo>
                  <a:pt x="596" y="76"/>
                </a:lnTo>
                <a:lnTo>
                  <a:pt x="615" y="75"/>
                </a:lnTo>
                <a:close/>
                <a:moveTo>
                  <a:pt x="204" y="75"/>
                </a:moveTo>
                <a:lnTo>
                  <a:pt x="223" y="76"/>
                </a:lnTo>
                <a:lnTo>
                  <a:pt x="241" y="81"/>
                </a:lnTo>
                <a:lnTo>
                  <a:pt x="237" y="89"/>
                </a:lnTo>
                <a:lnTo>
                  <a:pt x="235" y="97"/>
                </a:lnTo>
                <a:lnTo>
                  <a:pt x="231" y="106"/>
                </a:lnTo>
                <a:lnTo>
                  <a:pt x="228" y="116"/>
                </a:lnTo>
                <a:lnTo>
                  <a:pt x="218" y="113"/>
                </a:lnTo>
                <a:lnTo>
                  <a:pt x="204" y="111"/>
                </a:lnTo>
                <a:lnTo>
                  <a:pt x="190" y="113"/>
                </a:lnTo>
                <a:lnTo>
                  <a:pt x="178" y="115"/>
                </a:lnTo>
                <a:lnTo>
                  <a:pt x="168" y="118"/>
                </a:lnTo>
                <a:lnTo>
                  <a:pt x="163" y="122"/>
                </a:lnTo>
                <a:lnTo>
                  <a:pt x="157" y="124"/>
                </a:lnTo>
                <a:lnTo>
                  <a:pt x="148" y="128"/>
                </a:lnTo>
                <a:lnTo>
                  <a:pt x="142" y="132"/>
                </a:lnTo>
                <a:lnTo>
                  <a:pt x="135" y="137"/>
                </a:lnTo>
                <a:lnTo>
                  <a:pt x="130" y="145"/>
                </a:lnTo>
                <a:lnTo>
                  <a:pt x="123" y="157"/>
                </a:lnTo>
                <a:lnTo>
                  <a:pt x="115" y="174"/>
                </a:lnTo>
                <a:lnTo>
                  <a:pt x="113" y="190"/>
                </a:lnTo>
                <a:lnTo>
                  <a:pt x="113" y="204"/>
                </a:lnTo>
                <a:lnTo>
                  <a:pt x="117" y="220"/>
                </a:lnTo>
                <a:lnTo>
                  <a:pt x="122" y="233"/>
                </a:lnTo>
                <a:lnTo>
                  <a:pt x="127" y="245"/>
                </a:lnTo>
                <a:lnTo>
                  <a:pt x="131" y="258"/>
                </a:lnTo>
                <a:lnTo>
                  <a:pt x="130" y="270"/>
                </a:lnTo>
                <a:lnTo>
                  <a:pt x="127" y="284"/>
                </a:lnTo>
                <a:lnTo>
                  <a:pt x="127" y="293"/>
                </a:lnTo>
                <a:lnTo>
                  <a:pt x="127" y="300"/>
                </a:lnTo>
                <a:lnTo>
                  <a:pt x="129" y="304"/>
                </a:lnTo>
                <a:lnTo>
                  <a:pt x="129" y="304"/>
                </a:lnTo>
                <a:lnTo>
                  <a:pt x="130" y="305"/>
                </a:lnTo>
                <a:lnTo>
                  <a:pt x="135" y="313"/>
                </a:lnTo>
                <a:lnTo>
                  <a:pt x="142" y="323"/>
                </a:lnTo>
                <a:lnTo>
                  <a:pt x="148" y="336"/>
                </a:lnTo>
                <a:lnTo>
                  <a:pt x="153" y="355"/>
                </a:lnTo>
                <a:lnTo>
                  <a:pt x="157" y="376"/>
                </a:lnTo>
                <a:lnTo>
                  <a:pt x="159" y="402"/>
                </a:lnTo>
                <a:lnTo>
                  <a:pt x="156" y="427"/>
                </a:lnTo>
                <a:lnTo>
                  <a:pt x="149" y="448"/>
                </a:lnTo>
                <a:lnTo>
                  <a:pt x="139" y="466"/>
                </a:lnTo>
                <a:lnTo>
                  <a:pt x="127" y="479"/>
                </a:lnTo>
                <a:lnTo>
                  <a:pt x="114" y="490"/>
                </a:lnTo>
                <a:lnTo>
                  <a:pt x="102" y="496"/>
                </a:lnTo>
                <a:lnTo>
                  <a:pt x="91" y="501"/>
                </a:lnTo>
                <a:lnTo>
                  <a:pt x="76" y="507"/>
                </a:lnTo>
                <a:lnTo>
                  <a:pt x="63" y="514"/>
                </a:lnTo>
                <a:lnTo>
                  <a:pt x="53" y="525"/>
                </a:lnTo>
                <a:lnTo>
                  <a:pt x="43" y="539"/>
                </a:lnTo>
                <a:lnTo>
                  <a:pt x="40" y="558"/>
                </a:lnTo>
                <a:lnTo>
                  <a:pt x="119" y="558"/>
                </a:lnTo>
                <a:lnTo>
                  <a:pt x="110" y="576"/>
                </a:lnTo>
                <a:lnTo>
                  <a:pt x="102" y="596"/>
                </a:lnTo>
                <a:lnTo>
                  <a:pt x="19" y="596"/>
                </a:lnTo>
                <a:lnTo>
                  <a:pt x="13" y="594"/>
                </a:lnTo>
                <a:lnTo>
                  <a:pt x="9" y="593"/>
                </a:lnTo>
                <a:lnTo>
                  <a:pt x="7" y="592"/>
                </a:lnTo>
                <a:lnTo>
                  <a:pt x="4" y="589"/>
                </a:lnTo>
                <a:lnTo>
                  <a:pt x="3" y="586"/>
                </a:lnTo>
                <a:lnTo>
                  <a:pt x="2" y="584"/>
                </a:lnTo>
                <a:lnTo>
                  <a:pt x="0" y="581"/>
                </a:lnTo>
                <a:lnTo>
                  <a:pt x="0" y="579"/>
                </a:lnTo>
                <a:lnTo>
                  <a:pt x="0" y="577"/>
                </a:lnTo>
                <a:lnTo>
                  <a:pt x="0" y="577"/>
                </a:lnTo>
                <a:lnTo>
                  <a:pt x="3" y="551"/>
                </a:lnTo>
                <a:lnTo>
                  <a:pt x="8" y="530"/>
                </a:lnTo>
                <a:lnTo>
                  <a:pt x="16" y="512"/>
                </a:lnTo>
                <a:lnTo>
                  <a:pt x="28" y="497"/>
                </a:lnTo>
                <a:lnTo>
                  <a:pt x="40" y="486"/>
                </a:lnTo>
                <a:lnTo>
                  <a:pt x="53" y="478"/>
                </a:lnTo>
                <a:lnTo>
                  <a:pt x="66" y="470"/>
                </a:lnTo>
                <a:lnTo>
                  <a:pt x="79" y="465"/>
                </a:lnTo>
                <a:lnTo>
                  <a:pt x="81" y="465"/>
                </a:lnTo>
                <a:lnTo>
                  <a:pt x="85" y="463"/>
                </a:lnTo>
                <a:lnTo>
                  <a:pt x="93" y="459"/>
                </a:lnTo>
                <a:lnTo>
                  <a:pt x="100" y="454"/>
                </a:lnTo>
                <a:lnTo>
                  <a:pt x="108" y="445"/>
                </a:lnTo>
                <a:lnTo>
                  <a:pt x="114" y="435"/>
                </a:lnTo>
                <a:lnTo>
                  <a:pt x="119" y="420"/>
                </a:lnTo>
                <a:lnTo>
                  <a:pt x="121" y="402"/>
                </a:lnTo>
                <a:lnTo>
                  <a:pt x="119" y="380"/>
                </a:lnTo>
                <a:lnTo>
                  <a:pt x="117" y="364"/>
                </a:lnTo>
                <a:lnTo>
                  <a:pt x="113" y="349"/>
                </a:lnTo>
                <a:lnTo>
                  <a:pt x="108" y="340"/>
                </a:lnTo>
                <a:lnTo>
                  <a:pt x="102" y="332"/>
                </a:lnTo>
                <a:lnTo>
                  <a:pt x="98" y="326"/>
                </a:lnTo>
                <a:lnTo>
                  <a:pt x="97" y="325"/>
                </a:lnTo>
                <a:lnTo>
                  <a:pt x="95" y="319"/>
                </a:lnTo>
                <a:lnTo>
                  <a:pt x="92" y="311"/>
                </a:lnTo>
                <a:lnTo>
                  <a:pt x="89" y="300"/>
                </a:lnTo>
                <a:lnTo>
                  <a:pt x="91" y="283"/>
                </a:lnTo>
                <a:lnTo>
                  <a:pt x="93" y="262"/>
                </a:lnTo>
                <a:lnTo>
                  <a:pt x="87" y="246"/>
                </a:lnTo>
                <a:lnTo>
                  <a:pt x="80" y="228"/>
                </a:lnTo>
                <a:lnTo>
                  <a:pt x="76" y="207"/>
                </a:lnTo>
                <a:lnTo>
                  <a:pt x="75" y="183"/>
                </a:lnTo>
                <a:lnTo>
                  <a:pt x="81" y="161"/>
                </a:lnTo>
                <a:lnTo>
                  <a:pt x="92" y="137"/>
                </a:lnTo>
                <a:lnTo>
                  <a:pt x="102" y="119"/>
                </a:lnTo>
                <a:lnTo>
                  <a:pt x="113" y="107"/>
                </a:lnTo>
                <a:lnTo>
                  <a:pt x="126" y="98"/>
                </a:lnTo>
                <a:lnTo>
                  <a:pt x="142" y="90"/>
                </a:lnTo>
                <a:lnTo>
                  <a:pt x="152" y="85"/>
                </a:lnTo>
                <a:lnTo>
                  <a:pt x="168" y="80"/>
                </a:lnTo>
                <a:lnTo>
                  <a:pt x="185" y="76"/>
                </a:lnTo>
                <a:lnTo>
                  <a:pt x="204" y="75"/>
                </a:lnTo>
                <a:close/>
                <a:moveTo>
                  <a:pt x="432" y="37"/>
                </a:moveTo>
                <a:lnTo>
                  <a:pt x="413" y="38"/>
                </a:lnTo>
                <a:lnTo>
                  <a:pt x="395" y="42"/>
                </a:lnTo>
                <a:lnTo>
                  <a:pt x="382" y="47"/>
                </a:lnTo>
                <a:lnTo>
                  <a:pt x="375" y="51"/>
                </a:lnTo>
                <a:lnTo>
                  <a:pt x="369" y="54"/>
                </a:lnTo>
                <a:lnTo>
                  <a:pt x="352" y="61"/>
                </a:lnTo>
                <a:lnTo>
                  <a:pt x="339" y="71"/>
                </a:lnTo>
                <a:lnTo>
                  <a:pt x="326" y="82"/>
                </a:lnTo>
                <a:lnTo>
                  <a:pt x="314" y="101"/>
                </a:lnTo>
                <a:lnTo>
                  <a:pt x="304" y="124"/>
                </a:lnTo>
                <a:lnTo>
                  <a:pt x="299" y="145"/>
                </a:lnTo>
                <a:lnTo>
                  <a:pt x="300" y="167"/>
                </a:lnTo>
                <a:lnTo>
                  <a:pt x="304" y="190"/>
                </a:lnTo>
                <a:lnTo>
                  <a:pt x="312" y="208"/>
                </a:lnTo>
                <a:lnTo>
                  <a:pt x="318" y="224"/>
                </a:lnTo>
                <a:lnTo>
                  <a:pt x="320" y="226"/>
                </a:lnTo>
                <a:lnTo>
                  <a:pt x="321" y="230"/>
                </a:lnTo>
                <a:lnTo>
                  <a:pt x="322" y="238"/>
                </a:lnTo>
                <a:lnTo>
                  <a:pt x="321" y="249"/>
                </a:lnTo>
                <a:lnTo>
                  <a:pt x="317" y="267"/>
                </a:lnTo>
                <a:lnTo>
                  <a:pt x="317" y="281"/>
                </a:lnTo>
                <a:lnTo>
                  <a:pt x="317" y="291"/>
                </a:lnTo>
                <a:lnTo>
                  <a:pt x="318" y="297"/>
                </a:lnTo>
                <a:lnTo>
                  <a:pt x="320" y="300"/>
                </a:lnTo>
                <a:lnTo>
                  <a:pt x="320" y="300"/>
                </a:lnTo>
                <a:lnTo>
                  <a:pt x="320" y="301"/>
                </a:lnTo>
                <a:lnTo>
                  <a:pt x="321" y="302"/>
                </a:lnTo>
                <a:lnTo>
                  <a:pt x="324" y="305"/>
                </a:lnTo>
                <a:lnTo>
                  <a:pt x="325" y="306"/>
                </a:lnTo>
                <a:lnTo>
                  <a:pt x="333" y="317"/>
                </a:lnTo>
                <a:lnTo>
                  <a:pt x="342" y="330"/>
                </a:lnTo>
                <a:lnTo>
                  <a:pt x="351" y="346"/>
                </a:lnTo>
                <a:lnTo>
                  <a:pt x="358" y="366"/>
                </a:lnTo>
                <a:lnTo>
                  <a:pt x="363" y="391"/>
                </a:lnTo>
                <a:lnTo>
                  <a:pt x="365" y="420"/>
                </a:lnTo>
                <a:lnTo>
                  <a:pt x="363" y="448"/>
                </a:lnTo>
                <a:lnTo>
                  <a:pt x="355" y="471"/>
                </a:lnTo>
                <a:lnTo>
                  <a:pt x="344" y="491"/>
                </a:lnTo>
                <a:lnTo>
                  <a:pt x="331" y="507"/>
                </a:lnTo>
                <a:lnTo>
                  <a:pt x="317" y="520"/>
                </a:lnTo>
                <a:lnTo>
                  <a:pt x="301" y="530"/>
                </a:lnTo>
                <a:lnTo>
                  <a:pt x="286" y="538"/>
                </a:lnTo>
                <a:lnTo>
                  <a:pt x="272" y="542"/>
                </a:lnTo>
                <a:lnTo>
                  <a:pt x="271" y="542"/>
                </a:lnTo>
                <a:lnTo>
                  <a:pt x="252" y="550"/>
                </a:lnTo>
                <a:lnTo>
                  <a:pt x="232" y="559"/>
                </a:lnTo>
                <a:lnTo>
                  <a:pt x="214" y="568"/>
                </a:lnTo>
                <a:lnTo>
                  <a:pt x="198" y="580"/>
                </a:lnTo>
                <a:lnTo>
                  <a:pt x="185" y="594"/>
                </a:lnTo>
                <a:lnTo>
                  <a:pt x="176" y="613"/>
                </a:lnTo>
                <a:lnTo>
                  <a:pt x="169" y="632"/>
                </a:lnTo>
                <a:lnTo>
                  <a:pt x="651" y="632"/>
                </a:lnTo>
                <a:lnTo>
                  <a:pt x="644" y="613"/>
                </a:lnTo>
                <a:lnTo>
                  <a:pt x="635" y="594"/>
                </a:lnTo>
                <a:lnTo>
                  <a:pt x="622" y="580"/>
                </a:lnTo>
                <a:lnTo>
                  <a:pt x="606" y="568"/>
                </a:lnTo>
                <a:lnTo>
                  <a:pt x="588" y="559"/>
                </a:lnTo>
                <a:lnTo>
                  <a:pt x="568" y="550"/>
                </a:lnTo>
                <a:lnTo>
                  <a:pt x="549" y="542"/>
                </a:lnTo>
                <a:lnTo>
                  <a:pt x="547" y="542"/>
                </a:lnTo>
                <a:lnTo>
                  <a:pt x="534" y="538"/>
                </a:lnTo>
                <a:lnTo>
                  <a:pt x="518" y="530"/>
                </a:lnTo>
                <a:lnTo>
                  <a:pt x="503" y="520"/>
                </a:lnTo>
                <a:lnTo>
                  <a:pt x="488" y="507"/>
                </a:lnTo>
                <a:lnTo>
                  <a:pt x="475" y="491"/>
                </a:lnTo>
                <a:lnTo>
                  <a:pt x="465" y="471"/>
                </a:lnTo>
                <a:lnTo>
                  <a:pt x="457" y="448"/>
                </a:lnTo>
                <a:lnTo>
                  <a:pt x="454" y="420"/>
                </a:lnTo>
                <a:lnTo>
                  <a:pt x="457" y="391"/>
                </a:lnTo>
                <a:lnTo>
                  <a:pt x="462" y="366"/>
                </a:lnTo>
                <a:lnTo>
                  <a:pt x="469" y="346"/>
                </a:lnTo>
                <a:lnTo>
                  <a:pt x="478" y="330"/>
                </a:lnTo>
                <a:lnTo>
                  <a:pt x="487" y="317"/>
                </a:lnTo>
                <a:lnTo>
                  <a:pt x="495" y="306"/>
                </a:lnTo>
                <a:lnTo>
                  <a:pt x="496" y="305"/>
                </a:lnTo>
                <a:lnTo>
                  <a:pt x="499" y="302"/>
                </a:lnTo>
                <a:lnTo>
                  <a:pt x="500" y="301"/>
                </a:lnTo>
                <a:lnTo>
                  <a:pt x="501" y="298"/>
                </a:lnTo>
                <a:lnTo>
                  <a:pt x="501" y="298"/>
                </a:lnTo>
                <a:lnTo>
                  <a:pt x="503" y="294"/>
                </a:lnTo>
                <a:lnTo>
                  <a:pt x="504" y="289"/>
                </a:lnTo>
                <a:lnTo>
                  <a:pt x="504" y="280"/>
                </a:lnTo>
                <a:lnTo>
                  <a:pt x="504" y="267"/>
                </a:lnTo>
                <a:lnTo>
                  <a:pt x="500" y="251"/>
                </a:lnTo>
                <a:lnTo>
                  <a:pt x="500" y="236"/>
                </a:lnTo>
                <a:lnTo>
                  <a:pt x="507" y="221"/>
                </a:lnTo>
                <a:lnTo>
                  <a:pt x="511" y="213"/>
                </a:lnTo>
                <a:lnTo>
                  <a:pt x="516" y="203"/>
                </a:lnTo>
                <a:lnTo>
                  <a:pt x="520" y="190"/>
                </a:lnTo>
                <a:lnTo>
                  <a:pt x="521" y="173"/>
                </a:lnTo>
                <a:lnTo>
                  <a:pt x="520" y="152"/>
                </a:lnTo>
                <a:lnTo>
                  <a:pt x="515" y="128"/>
                </a:lnTo>
                <a:lnTo>
                  <a:pt x="505" y="101"/>
                </a:lnTo>
                <a:lnTo>
                  <a:pt x="496" y="81"/>
                </a:lnTo>
                <a:lnTo>
                  <a:pt x="488" y="67"/>
                </a:lnTo>
                <a:lnTo>
                  <a:pt x="481" y="56"/>
                </a:lnTo>
                <a:lnTo>
                  <a:pt x="474" y="50"/>
                </a:lnTo>
                <a:lnTo>
                  <a:pt x="467" y="44"/>
                </a:lnTo>
                <a:lnTo>
                  <a:pt x="452" y="39"/>
                </a:lnTo>
                <a:lnTo>
                  <a:pt x="432" y="37"/>
                </a:lnTo>
                <a:close/>
                <a:moveTo>
                  <a:pt x="432" y="0"/>
                </a:moveTo>
                <a:lnTo>
                  <a:pt x="450" y="1"/>
                </a:lnTo>
                <a:lnTo>
                  <a:pt x="469" y="5"/>
                </a:lnTo>
                <a:lnTo>
                  <a:pt x="486" y="12"/>
                </a:lnTo>
                <a:lnTo>
                  <a:pt x="501" y="23"/>
                </a:lnTo>
                <a:lnTo>
                  <a:pt x="515" y="39"/>
                </a:lnTo>
                <a:lnTo>
                  <a:pt x="528" y="60"/>
                </a:lnTo>
                <a:lnTo>
                  <a:pt x="539" y="86"/>
                </a:lnTo>
                <a:lnTo>
                  <a:pt x="551" y="119"/>
                </a:lnTo>
                <a:lnTo>
                  <a:pt x="558" y="149"/>
                </a:lnTo>
                <a:lnTo>
                  <a:pt x="558" y="177"/>
                </a:lnTo>
                <a:lnTo>
                  <a:pt x="555" y="202"/>
                </a:lnTo>
                <a:lnTo>
                  <a:pt x="547" y="224"/>
                </a:lnTo>
                <a:lnTo>
                  <a:pt x="537" y="242"/>
                </a:lnTo>
                <a:lnTo>
                  <a:pt x="541" y="266"/>
                </a:lnTo>
                <a:lnTo>
                  <a:pt x="542" y="285"/>
                </a:lnTo>
                <a:lnTo>
                  <a:pt x="539" y="300"/>
                </a:lnTo>
                <a:lnTo>
                  <a:pt x="537" y="310"/>
                </a:lnTo>
                <a:lnTo>
                  <a:pt x="534" y="318"/>
                </a:lnTo>
                <a:lnTo>
                  <a:pt x="530" y="322"/>
                </a:lnTo>
                <a:lnTo>
                  <a:pt x="529" y="323"/>
                </a:lnTo>
                <a:lnTo>
                  <a:pt x="524" y="330"/>
                </a:lnTo>
                <a:lnTo>
                  <a:pt x="517" y="338"/>
                </a:lnTo>
                <a:lnTo>
                  <a:pt x="511" y="348"/>
                </a:lnTo>
                <a:lnTo>
                  <a:pt x="503" y="361"/>
                </a:lnTo>
                <a:lnTo>
                  <a:pt x="498" y="377"/>
                </a:lnTo>
                <a:lnTo>
                  <a:pt x="494" y="397"/>
                </a:lnTo>
                <a:lnTo>
                  <a:pt x="491" y="420"/>
                </a:lnTo>
                <a:lnTo>
                  <a:pt x="494" y="442"/>
                </a:lnTo>
                <a:lnTo>
                  <a:pt x="500" y="459"/>
                </a:lnTo>
                <a:lnTo>
                  <a:pt x="509" y="474"/>
                </a:lnTo>
                <a:lnTo>
                  <a:pt x="520" y="486"/>
                </a:lnTo>
                <a:lnTo>
                  <a:pt x="530" y="493"/>
                </a:lnTo>
                <a:lnTo>
                  <a:pt x="541" y="500"/>
                </a:lnTo>
                <a:lnTo>
                  <a:pt x="550" y="504"/>
                </a:lnTo>
                <a:lnTo>
                  <a:pt x="556" y="505"/>
                </a:lnTo>
                <a:lnTo>
                  <a:pt x="558" y="507"/>
                </a:lnTo>
                <a:lnTo>
                  <a:pt x="572" y="512"/>
                </a:lnTo>
                <a:lnTo>
                  <a:pt x="588" y="517"/>
                </a:lnTo>
                <a:lnTo>
                  <a:pt x="605" y="525"/>
                </a:lnTo>
                <a:lnTo>
                  <a:pt x="623" y="535"/>
                </a:lnTo>
                <a:lnTo>
                  <a:pt x="640" y="547"/>
                </a:lnTo>
                <a:lnTo>
                  <a:pt x="656" y="562"/>
                </a:lnTo>
                <a:lnTo>
                  <a:pt x="669" y="579"/>
                </a:lnTo>
                <a:lnTo>
                  <a:pt x="679" y="599"/>
                </a:lnTo>
                <a:lnTo>
                  <a:pt x="686" y="623"/>
                </a:lnTo>
                <a:lnTo>
                  <a:pt x="689" y="652"/>
                </a:lnTo>
                <a:lnTo>
                  <a:pt x="689" y="652"/>
                </a:lnTo>
                <a:lnTo>
                  <a:pt x="689" y="653"/>
                </a:lnTo>
                <a:lnTo>
                  <a:pt x="689" y="656"/>
                </a:lnTo>
                <a:lnTo>
                  <a:pt x="687" y="658"/>
                </a:lnTo>
                <a:lnTo>
                  <a:pt x="687" y="661"/>
                </a:lnTo>
                <a:lnTo>
                  <a:pt x="685" y="664"/>
                </a:lnTo>
                <a:lnTo>
                  <a:pt x="683" y="666"/>
                </a:lnTo>
                <a:lnTo>
                  <a:pt x="679" y="668"/>
                </a:lnTo>
                <a:lnTo>
                  <a:pt x="676" y="669"/>
                </a:lnTo>
                <a:lnTo>
                  <a:pt x="670" y="670"/>
                </a:lnTo>
                <a:lnTo>
                  <a:pt x="149" y="670"/>
                </a:lnTo>
                <a:lnTo>
                  <a:pt x="144" y="669"/>
                </a:lnTo>
                <a:lnTo>
                  <a:pt x="140" y="668"/>
                </a:lnTo>
                <a:lnTo>
                  <a:pt x="136" y="666"/>
                </a:lnTo>
                <a:lnTo>
                  <a:pt x="135" y="664"/>
                </a:lnTo>
                <a:lnTo>
                  <a:pt x="132" y="661"/>
                </a:lnTo>
                <a:lnTo>
                  <a:pt x="132" y="658"/>
                </a:lnTo>
                <a:lnTo>
                  <a:pt x="131" y="656"/>
                </a:lnTo>
                <a:lnTo>
                  <a:pt x="131" y="653"/>
                </a:lnTo>
                <a:lnTo>
                  <a:pt x="131" y="652"/>
                </a:lnTo>
                <a:lnTo>
                  <a:pt x="131" y="652"/>
                </a:lnTo>
                <a:lnTo>
                  <a:pt x="134" y="623"/>
                </a:lnTo>
                <a:lnTo>
                  <a:pt x="140" y="599"/>
                </a:lnTo>
                <a:lnTo>
                  <a:pt x="151" y="579"/>
                </a:lnTo>
                <a:lnTo>
                  <a:pt x="164" y="562"/>
                </a:lnTo>
                <a:lnTo>
                  <a:pt x="180" y="547"/>
                </a:lnTo>
                <a:lnTo>
                  <a:pt x="197" y="535"/>
                </a:lnTo>
                <a:lnTo>
                  <a:pt x="215" y="525"/>
                </a:lnTo>
                <a:lnTo>
                  <a:pt x="232" y="517"/>
                </a:lnTo>
                <a:lnTo>
                  <a:pt x="248" y="512"/>
                </a:lnTo>
                <a:lnTo>
                  <a:pt x="262" y="507"/>
                </a:lnTo>
                <a:lnTo>
                  <a:pt x="263" y="505"/>
                </a:lnTo>
                <a:lnTo>
                  <a:pt x="270" y="504"/>
                </a:lnTo>
                <a:lnTo>
                  <a:pt x="279" y="500"/>
                </a:lnTo>
                <a:lnTo>
                  <a:pt x="289" y="493"/>
                </a:lnTo>
                <a:lnTo>
                  <a:pt x="300" y="486"/>
                </a:lnTo>
                <a:lnTo>
                  <a:pt x="310" y="474"/>
                </a:lnTo>
                <a:lnTo>
                  <a:pt x="320" y="459"/>
                </a:lnTo>
                <a:lnTo>
                  <a:pt x="326" y="442"/>
                </a:lnTo>
                <a:lnTo>
                  <a:pt x="329" y="420"/>
                </a:lnTo>
                <a:lnTo>
                  <a:pt x="326" y="397"/>
                </a:lnTo>
                <a:lnTo>
                  <a:pt x="322" y="377"/>
                </a:lnTo>
                <a:lnTo>
                  <a:pt x="317" y="361"/>
                </a:lnTo>
                <a:lnTo>
                  <a:pt x="309" y="348"/>
                </a:lnTo>
                <a:lnTo>
                  <a:pt x="303" y="338"/>
                </a:lnTo>
                <a:lnTo>
                  <a:pt x="296" y="330"/>
                </a:lnTo>
                <a:lnTo>
                  <a:pt x="291" y="323"/>
                </a:lnTo>
                <a:lnTo>
                  <a:pt x="289" y="322"/>
                </a:lnTo>
                <a:lnTo>
                  <a:pt x="287" y="317"/>
                </a:lnTo>
                <a:lnTo>
                  <a:pt x="283" y="310"/>
                </a:lnTo>
                <a:lnTo>
                  <a:pt x="280" y="298"/>
                </a:lnTo>
                <a:lnTo>
                  <a:pt x="279" y="284"/>
                </a:lnTo>
                <a:lnTo>
                  <a:pt x="280" y="264"/>
                </a:lnTo>
                <a:lnTo>
                  <a:pt x="284" y="241"/>
                </a:lnTo>
                <a:lnTo>
                  <a:pt x="278" y="225"/>
                </a:lnTo>
                <a:lnTo>
                  <a:pt x="271" y="205"/>
                </a:lnTo>
                <a:lnTo>
                  <a:pt x="265" y="183"/>
                </a:lnTo>
                <a:lnTo>
                  <a:pt x="261" y="160"/>
                </a:lnTo>
                <a:lnTo>
                  <a:pt x="262" y="135"/>
                </a:lnTo>
                <a:lnTo>
                  <a:pt x="269" y="110"/>
                </a:lnTo>
                <a:lnTo>
                  <a:pt x="280" y="85"/>
                </a:lnTo>
                <a:lnTo>
                  <a:pt x="293" y="64"/>
                </a:lnTo>
                <a:lnTo>
                  <a:pt x="307" y="50"/>
                </a:lnTo>
                <a:lnTo>
                  <a:pt x="321" y="38"/>
                </a:lnTo>
                <a:lnTo>
                  <a:pt x="337" y="29"/>
                </a:lnTo>
                <a:lnTo>
                  <a:pt x="355" y="20"/>
                </a:lnTo>
                <a:lnTo>
                  <a:pt x="367" y="13"/>
                </a:lnTo>
                <a:lnTo>
                  <a:pt x="386" y="6"/>
                </a:lnTo>
                <a:lnTo>
                  <a:pt x="409" y="1"/>
                </a:lnTo>
                <a:lnTo>
                  <a:pt x="432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  <a:prstDash val="solid"/>
            <a:round/>
          </a:ln>
        </p:spPr>
        <p:txBody>
          <a:bodyPr vert="horz" wrap="square" lIns="121882" tIns="60941" rIns="121882" bIns="60941" numCol="1" anchor="t" anchorCtr="0" compatLnSpc="1"/>
          <a:lstStyle/>
          <a:p>
            <a:endParaRPr lang="zh-CN" altLang="en-US" sz="2400"/>
          </a:p>
        </p:txBody>
      </p:sp>
      <p:cxnSp>
        <p:nvCxnSpPr>
          <p:cNvPr id="47" name="直接连接符 10"/>
          <p:cNvCxnSpPr/>
          <p:nvPr/>
        </p:nvCxnSpPr>
        <p:spPr>
          <a:xfrm>
            <a:off x="1980180" y="5735907"/>
            <a:ext cx="87603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菱形 14"/>
          <p:cNvSpPr/>
          <p:nvPr/>
        </p:nvSpPr>
        <p:spPr>
          <a:xfrm>
            <a:off x="3103924" y="5141783"/>
            <a:ext cx="1187880" cy="1188247"/>
          </a:xfrm>
          <a:prstGeom prst="diamond">
            <a:avLst/>
          </a:prstGeom>
          <a:noFill/>
          <a:ln w="38100"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0" name="íşlïdè"/>
          <p:cNvSpPr/>
          <p:nvPr/>
        </p:nvSpPr>
        <p:spPr bwMode="auto">
          <a:xfrm>
            <a:off x="3407410" y="5495290"/>
            <a:ext cx="569595" cy="410845"/>
          </a:xfrm>
          <a:custGeom>
            <a:avLst/>
            <a:gdLst>
              <a:gd name="T0" fmla="*/ 298 w 368"/>
              <a:gd name="T1" fmla="*/ 94 h 265"/>
              <a:gd name="T2" fmla="*/ 196 w 368"/>
              <a:gd name="T3" fmla="*/ 0 h 265"/>
              <a:gd name="T4" fmla="*/ 102 w 368"/>
              <a:gd name="T5" fmla="*/ 60 h 265"/>
              <a:gd name="T6" fmla="*/ 86 w 368"/>
              <a:gd name="T7" fmla="*/ 58 h 265"/>
              <a:gd name="T8" fmla="*/ 35 w 368"/>
              <a:gd name="T9" fmla="*/ 109 h 265"/>
              <a:gd name="T10" fmla="*/ 37 w 368"/>
              <a:gd name="T11" fmla="*/ 126 h 265"/>
              <a:gd name="T12" fmla="*/ 0 w 368"/>
              <a:gd name="T13" fmla="*/ 190 h 265"/>
              <a:gd name="T14" fmla="*/ 75 w 368"/>
              <a:gd name="T15" fmla="*/ 265 h 265"/>
              <a:gd name="T16" fmla="*/ 75 w 368"/>
              <a:gd name="T17" fmla="*/ 265 h 265"/>
              <a:gd name="T18" fmla="*/ 282 w 368"/>
              <a:gd name="T19" fmla="*/ 265 h 265"/>
              <a:gd name="T20" fmla="*/ 282 w 368"/>
              <a:gd name="T21" fmla="*/ 265 h 265"/>
              <a:gd name="T22" fmla="*/ 368 w 368"/>
              <a:gd name="T23" fmla="*/ 178 h 265"/>
              <a:gd name="T24" fmla="*/ 298 w 368"/>
              <a:gd name="T25" fmla="*/ 94 h 265"/>
              <a:gd name="T26" fmla="*/ 282 w 368"/>
              <a:gd name="T27" fmla="*/ 242 h 265"/>
              <a:gd name="T28" fmla="*/ 282 w 368"/>
              <a:gd name="T29" fmla="*/ 242 h 265"/>
              <a:gd name="T30" fmla="*/ 75 w 368"/>
              <a:gd name="T31" fmla="*/ 242 h 265"/>
              <a:gd name="T32" fmla="*/ 23 w 368"/>
              <a:gd name="T33" fmla="*/ 190 h 265"/>
              <a:gd name="T34" fmla="*/ 49 w 368"/>
              <a:gd name="T35" fmla="*/ 145 h 265"/>
              <a:gd name="T36" fmla="*/ 59 w 368"/>
              <a:gd name="T37" fmla="*/ 118 h 265"/>
              <a:gd name="T38" fmla="*/ 58 w 368"/>
              <a:gd name="T39" fmla="*/ 109 h 265"/>
              <a:gd name="T40" fmla="*/ 86 w 368"/>
              <a:gd name="T41" fmla="*/ 81 h 265"/>
              <a:gd name="T42" fmla="*/ 102 w 368"/>
              <a:gd name="T43" fmla="*/ 83 h 265"/>
              <a:gd name="T44" fmla="*/ 123 w 368"/>
              <a:gd name="T45" fmla="*/ 70 h 265"/>
              <a:gd name="T46" fmla="*/ 196 w 368"/>
              <a:gd name="T47" fmla="*/ 23 h 265"/>
              <a:gd name="T48" fmla="*/ 275 w 368"/>
              <a:gd name="T49" fmla="*/ 96 h 265"/>
              <a:gd name="T50" fmla="*/ 294 w 368"/>
              <a:gd name="T51" fmla="*/ 116 h 265"/>
              <a:gd name="T52" fmla="*/ 345 w 368"/>
              <a:gd name="T53" fmla="*/ 178 h 265"/>
              <a:gd name="T54" fmla="*/ 282 w 368"/>
              <a:gd name="T55" fmla="*/ 242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368" h="265">
                <a:moveTo>
                  <a:pt x="298" y="94"/>
                </a:moveTo>
                <a:cubicBezTo>
                  <a:pt x="293" y="41"/>
                  <a:pt x="250" y="0"/>
                  <a:pt x="196" y="0"/>
                </a:cubicBezTo>
                <a:cubicBezTo>
                  <a:pt x="154" y="0"/>
                  <a:pt x="118" y="25"/>
                  <a:pt x="102" y="60"/>
                </a:cubicBezTo>
                <a:cubicBezTo>
                  <a:pt x="97" y="59"/>
                  <a:pt x="92" y="58"/>
                  <a:pt x="86" y="58"/>
                </a:cubicBezTo>
                <a:cubicBezTo>
                  <a:pt x="58" y="58"/>
                  <a:pt x="35" y="81"/>
                  <a:pt x="35" y="109"/>
                </a:cubicBezTo>
                <a:cubicBezTo>
                  <a:pt x="35" y="115"/>
                  <a:pt x="36" y="120"/>
                  <a:pt x="37" y="126"/>
                </a:cubicBezTo>
                <a:cubicBezTo>
                  <a:pt x="15" y="139"/>
                  <a:pt x="0" y="162"/>
                  <a:pt x="0" y="190"/>
                </a:cubicBezTo>
                <a:cubicBezTo>
                  <a:pt x="0" y="231"/>
                  <a:pt x="34" y="265"/>
                  <a:pt x="75" y="265"/>
                </a:cubicBezTo>
                <a:cubicBezTo>
                  <a:pt x="75" y="265"/>
                  <a:pt x="75" y="265"/>
                  <a:pt x="75" y="265"/>
                </a:cubicBezTo>
                <a:cubicBezTo>
                  <a:pt x="282" y="265"/>
                  <a:pt x="282" y="265"/>
                  <a:pt x="282" y="265"/>
                </a:cubicBezTo>
                <a:cubicBezTo>
                  <a:pt x="282" y="265"/>
                  <a:pt x="282" y="265"/>
                  <a:pt x="282" y="265"/>
                </a:cubicBezTo>
                <a:cubicBezTo>
                  <a:pt x="330" y="265"/>
                  <a:pt x="368" y="226"/>
                  <a:pt x="368" y="178"/>
                </a:cubicBezTo>
                <a:cubicBezTo>
                  <a:pt x="368" y="136"/>
                  <a:pt x="338" y="101"/>
                  <a:pt x="298" y="94"/>
                </a:cubicBezTo>
                <a:close/>
                <a:moveTo>
                  <a:pt x="282" y="242"/>
                </a:moveTo>
                <a:cubicBezTo>
                  <a:pt x="282" y="242"/>
                  <a:pt x="282" y="242"/>
                  <a:pt x="282" y="242"/>
                </a:cubicBezTo>
                <a:cubicBezTo>
                  <a:pt x="75" y="242"/>
                  <a:pt x="75" y="242"/>
                  <a:pt x="75" y="242"/>
                </a:cubicBezTo>
                <a:cubicBezTo>
                  <a:pt x="46" y="242"/>
                  <a:pt x="23" y="219"/>
                  <a:pt x="23" y="190"/>
                </a:cubicBezTo>
                <a:cubicBezTo>
                  <a:pt x="23" y="172"/>
                  <a:pt x="33" y="155"/>
                  <a:pt x="49" y="145"/>
                </a:cubicBezTo>
                <a:cubicBezTo>
                  <a:pt x="65" y="136"/>
                  <a:pt x="66" y="135"/>
                  <a:pt x="59" y="118"/>
                </a:cubicBezTo>
                <a:cubicBezTo>
                  <a:pt x="58" y="115"/>
                  <a:pt x="58" y="112"/>
                  <a:pt x="58" y="109"/>
                </a:cubicBezTo>
                <a:cubicBezTo>
                  <a:pt x="58" y="94"/>
                  <a:pt x="70" y="81"/>
                  <a:pt x="86" y="81"/>
                </a:cubicBezTo>
                <a:cubicBezTo>
                  <a:pt x="86" y="81"/>
                  <a:pt x="94" y="80"/>
                  <a:pt x="102" y="83"/>
                </a:cubicBezTo>
                <a:cubicBezTo>
                  <a:pt x="115" y="89"/>
                  <a:pt x="117" y="83"/>
                  <a:pt x="123" y="70"/>
                </a:cubicBezTo>
                <a:cubicBezTo>
                  <a:pt x="136" y="41"/>
                  <a:pt x="165" y="23"/>
                  <a:pt x="196" y="23"/>
                </a:cubicBezTo>
                <a:cubicBezTo>
                  <a:pt x="237" y="23"/>
                  <a:pt x="271" y="54"/>
                  <a:pt x="275" y="96"/>
                </a:cubicBezTo>
                <a:cubicBezTo>
                  <a:pt x="277" y="112"/>
                  <a:pt x="277" y="112"/>
                  <a:pt x="294" y="116"/>
                </a:cubicBezTo>
                <a:cubicBezTo>
                  <a:pt x="324" y="122"/>
                  <a:pt x="345" y="148"/>
                  <a:pt x="345" y="178"/>
                </a:cubicBezTo>
                <a:cubicBezTo>
                  <a:pt x="345" y="213"/>
                  <a:pt x="317" y="242"/>
                  <a:pt x="282" y="242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51" name="Text Box 50"/>
          <p:cNvSpPr txBox="1"/>
          <p:nvPr/>
        </p:nvSpPr>
        <p:spPr>
          <a:xfrm>
            <a:off x="5420995" y="1848485"/>
            <a:ext cx="6281420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zh-CN" sz="2400" b="1"/>
              <a:t>Dữ liệu Cắt ngang: </a:t>
            </a:r>
            <a:r>
              <a:rPr lang="en-US" altLang="zh-CN" sz="2400"/>
              <a:t>Không phân tích được xu hướng mức lương theo thời gian.</a:t>
            </a:r>
            <a:endParaRPr lang="en-US" altLang="zh-CN" sz="2400"/>
          </a:p>
        </p:txBody>
      </p:sp>
      <p:sp>
        <p:nvSpPr>
          <p:cNvPr id="52" name="Text Box 51"/>
          <p:cNvSpPr txBox="1"/>
          <p:nvPr/>
        </p:nvSpPr>
        <p:spPr>
          <a:xfrm>
            <a:off x="6297295" y="3014345"/>
            <a:ext cx="5783580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zh-CN" sz="2400" b="1"/>
              <a:t>Thiếu Biến Sâu: </a:t>
            </a:r>
            <a:r>
              <a:rPr lang="en-US" altLang="zh-CN" sz="2400"/>
              <a:t>Thiếu thông tin về Uy tín Công ty và Chứng chỉ chuyên môn</a:t>
            </a:r>
            <a:r>
              <a:rPr lang="vi-VN" altLang="en-US" sz="2400"/>
              <a:t>.</a:t>
            </a:r>
            <a:endParaRPr lang="vi-VN" altLang="en-US" sz="2400"/>
          </a:p>
        </p:txBody>
      </p:sp>
      <p:sp>
        <p:nvSpPr>
          <p:cNvPr id="53" name="Text Box 52"/>
          <p:cNvSpPr txBox="1"/>
          <p:nvPr/>
        </p:nvSpPr>
        <p:spPr>
          <a:xfrm>
            <a:off x="5295265" y="4246880"/>
            <a:ext cx="6539230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zh-CN" sz="2400" b="1"/>
              <a:t>Mã hóa Địa điểm:</a:t>
            </a:r>
            <a:r>
              <a:rPr lang="en-US" altLang="zh-CN" sz="2400"/>
              <a:t>Chưa tính Chi phí Sinh hoạt (CoL), ảnh hưởng đến lương thực tế.</a:t>
            </a:r>
            <a:endParaRPr lang="en-US" altLang="zh-CN" sz="2400"/>
          </a:p>
        </p:txBody>
      </p:sp>
      <p:sp>
        <p:nvSpPr>
          <p:cNvPr id="54" name="Text Box 53"/>
          <p:cNvSpPr txBox="1"/>
          <p:nvPr/>
        </p:nvSpPr>
        <p:spPr>
          <a:xfrm>
            <a:off x="4291965" y="5330190"/>
            <a:ext cx="5806440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zh-CN" sz="2400" b="1"/>
              <a:t>Biến Lương:</a:t>
            </a:r>
            <a:r>
              <a:rPr lang="en-US" altLang="zh-CN" sz="2400"/>
              <a:t> Sử dụng giá trị trung bình làm mất đi sự phân tán dữ liệu.</a:t>
            </a:r>
            <a:endParaRPr lang="en-US" altLang="zh-CN" sz="2400"/>
          </a:p>
        </p:txBody>
      </p:sp>
      <p:sp>
        <p:nvSpPr>
          <p:cNvPr id="55" name="Freeform 5"/>
          <p:cNvSpPr>
            <a:spLocks noEditPoints="1"/>
          </p:cNvSpPr>
          <p:nvPr/>
        </p:nvSpPr>
        <p:spPr bwMode="auto">
          <a:xfrm>
            <a:off x="981710" y="2678430"/>
            <a:ext cx="1756410" cy="1756410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255" y="135"/>
              </a:cxn>
              <a:cxn ang="0">
                <a:pos x="277" y="122"/>
              </a:cxn>
              <a:cxn ang="0">
                <a:pos x="303" y="116"/>
              </a:cxn>
              <a:cxn ang="0">
                <a:pos x="296" y="105"/>
              </a:cxn>
              <a:cxn ang="0">
                <a:pos x="278" y="89"/>
              </a:cxn>
              <a:cxn ang="0">
                <a:pos x="265" y="90"/>
              </a:cxn>
              <a:cxn ang="0">
                <a:pos x="256" y="82"/>
              </a:cxn>
              <a:cxn ang="0">
                <a:pos x="231" y="73"/>
              </a:cxn>
              <a:cxn ang="0">
                <a:pos x="234" y="98"/>
              </a:cxn>
              <a:cxn ang="0">
                <a:pos x="224" y="118"/>
              </a:cxn>
              <a:cxn ang="0">
                <a:pos x="205" y="103"/>
              </a:cxn>
              <a:cxn ang="0">
                <a:pos x="175" y="89"/>
              </a:cxn>
              <a:cxn ang="0">
                <a:pos x="183" y="68"/>
              </a:cxn>
              <a:cxn ang="0">
                <a:pos x="212" y="58"/>
              </a:cxn>
              <a:cxn ang="0">
                <a:pos x="207" y="47"/>
              </a:cxn>
              <a:cxn ang="0">
                <a:pos x="188" y="50"/>
              </a:cxn>
              <a:cxn ang="0">
                <a:pos x="168" y="37"/>
              </a:cxn>
              <a:cxn ang="0">
                <a:pos x="171" y="52"/>
              </a:cxn>
              <a:cxn ang="0">
                <a:pos x="157" y="52"/>
              </a:cxn>
              <a:cxn ang="0">
                <a:pos x="141" y="40"/>
              </a:cxn>
              <a:cxn ang="0">
                <a:pos x="126" y="47"/>
              </a:cxn>
              <a:cxn ang="0">
                <a:pos x="143" y="51"/>
              </a:cxn>
              <a:cxn ang="0">
                <a:pos x="131" y="58"/>
              </a:cxn>
              <a:cxn ang="0">
                <a:pos x="56" y="107"/>
              </a:cxn>
              <a:cxn ang="0">
                <a:pos x="65" y="118"/>
              </a:cxn>
              <a:cxn ang="0">
                <a:pos x="79" y="135"/>
              </a:cxn>
              <a:cxn ang="0">
                <a:pos x="74" y="158"/>
              </a:cxn>
              <a:cxn ang="0">
                <a:pos x="88" y="185"/>
              </a:cxn>
              <a:cxn ang="0">
                <a:pos x="108" y="214"/>
              </a:cxn>
              <a:cxn ang="0">
                <a:pos x="118" y="227"/>
              </a:cxn>
              <a:cxn ang="0">
                <a:pos x="105" y="197"/>
              </a:cxn>
              <a:cxn ang="0">
                <a:pos x="125" y="225"/>
              </a:cxn>
              <a:cxn ang="0">
                <a:pos x="150" y="255"/>
              </a:cxn>
              <a:cxn ang="0">
                <a:pos x="184" y="269"/>
              </a:cxn>
              <a:cxn ang="0">
                <a:pos x="213" y="290"/>
              </a:cxn>
              <a:cxn ang="0">
                <a:pos x="224" y="288"/>
              </a:cxn>
              <a:cxn ang="0">
                <a:pos x="212" y="268"/>
              </a:cxn>
              <a:cxn ang="0">
                <a:pos x="197" y="262"/>
              </a:cxn>
              <a:cxn ang="0">
                <a:pos x="194" y="239"/>
              </a:cxn>
              <a:cxn ang="0">
                <a:pos x="171" y="250"/>
              </a:cxn>
              <a:cxn ang="0">
                <a:pos x="168" y="210"/>
              </a:cxn>
              <a:cxn ang="0">
                <a:pos x="184" y="206"/>
              </a:cxn>
              <a:cxn ang="0">
                <a:pos x="196" y="202"/>
              </a:cxn>
              <a:cxn ang="0">
                <a:pos x="214" y="211"/>
              </a:cxn>
              <a:cxn ang="0">
                <a:pos x="221" y="205"/>
              </a:cxn>
              <a:cxn ang="0">
                <a:pos x="234" y="179"/>
              </a:cxn>
              <a:cxn ang="0">
                <a:pos x="233" y="171"/>
              </a:cxn>
              <a:cxn ang="0">
                <a:pos x="252" y="157"/>
              </a:cxn>
              <a:cxn ang="0">
                <a:pos x="266" y="143"/>
              </a:cxn>
              <a:cxn ang="0">
                <a:pos x="273" y="131"/>
              </a:cxn>
              <a:cxn ang="0">
                <a:pos x="255" y="135"/>
              </a:cxn>
              <a:cxn ang="0">
                <a:pos x="295" y="298"/>
              </a:cxn>
              <a:cxn ang="0">
                <a:pos x="272" y="288"/>
              </a:cxn>
              <a:cxn ang="0">
                <a:pos x="251" y="288"/>
              </a:cxn>
              <a:cxn ang="0">
                <a:pos x="236" y="286"/>
              </a:cxn>
              <a:cxn ang="0">
                <a:pos x="230" y="307"/>
              </a:cxn>
              <a:cxn ang="0">
                <a:pos x="223" y="335"/>
              </a:cxn>
              <a:cxn ang="0">
                <a:pos x="308" y="302"/>
              </a:cxn>
            </a:cxnLst>
            <a:rect l="0" t="0" r="r" b="b"/>
            <a:pathLst>
              <a:path w="384" h="384">
                <a:moveTo>
                  <a:pt x="384" y="192"/>
                </a:moveTo>
                <a:cubicBezTo>
                  <a:pt x="384" y="298"/>
                  <a:pt x="298" y="384"/>
                  <a:pt x="192" y="384"/>
                </a:cubicBezTo>
                <a:cubicBezTo>
                  <a:pt x="86" y="384"/>
                  <a:pt x="0" y="298"/>
                  <a:pt x="0" y="192"/>
                </a:cubicBezTo>
                <a:cubicBezTo>
                  <a:pt x="0" y="86"/>
                  <a:pt x="86" y="0"/>
                  <a:pt x="192" y="0"/>
                </a:cubicBezTo>
                <a:cubicBezTo>
                  <a:pt x="298" y="0"/>
                  <a:pt x="384" y="86"/>
                  <a:pt x="384" y="192"/>
                </a:cubicBezTo>
                <a:close/>
                <a:moveTo>
                  <a:pt x="255" y="135"/>
                </a:moveTo>
                <a:cubicBezTo>
                  <a:pt x="256" y="135"/>
                  <a:pt x="257" y="130"/>
                  <a:pt x="258" y="129"/>
                </a:cubicBezTo>
                <a:cubicBezTo>
                  <a:pt x="260" y="127"/>
                  <a:pt x="262" y="126"/>
                  <a:pt x="264" y="125"/>
                </a:cubicBezTo>
                <a:cubicBezTo>
                  <a:pt x="268" y="124"/>
                  <a:pt x="272" y="123"/>
                  <a:pt x="277" y="122"/>
                </a:cubicBezTo>
                <a:cubicBezTo>
                  <a:pt x="281" y="121"/>
                  <a:pt x="286" y="121"/>
                  <a:pt x="289" y="125"/>
                </a:cubicBezTo>
                <a:cubicBezTo>
                  <a:pt x="289" y="124"/>
                  <a:pt x="295" y="119"/>
                  <a:pt x="295" y="119"/>
                </a:cubicBezTo>
                <a:cubicBezTo>
                  <a:pt x="298" y="118"/>
                  <a:pt x="301" y="118"/>
                  <a:pt x="303" y="116"/>
                </a:cubicBezTo>
                <a:cubicBezTo>
                  <a:pt x="303" y="115"/>
                  <a:pt x="303" y="110"/>
                  <a:pt x="303" y="110"/>
                </a:cubicBezTo>
                <a:cubicBezTo>
                  <a:pt x="299" y="111"/>
                  <a:pt x="298" y="107"/>
                  <a:pt x="297" y="103"/>
                </a:cubicBezTo>
                <a:cubicBezTo>
                  <a:pt x="297" y="104"/>
                  <a:pt x="297" y="104"/>
                  <a:pt x="296" y="105"/>
                </a:cubicBezTo>
                <a:cubicBezTo>
                  <a:pt x="296" y="102"/>
                  <a:pt x="291" y="104"/>
                  <a:pt x="290" y="104"/>
                </a:cubicBezTo>
                <a:cubicBezTo>
                  <a:pt x="284" y="102"/>
                  <a:pt x="285" y="98"/>
                  <a:pt x="283" y="94"/>
                </a:cubicBezTo>
                <a:cubicBezTo>
                  <a:pt x="282" y="92"/>
                  <a:pt x="279" y="91"/>
                  <a:pt x="278" y="89"/>
                </a:cubicBezTo>
                <a:cubicBezTo>
                  <a:pt x="277" y="87"/>
                  <a:pt x="277" y="84"/>
                  <a:pt x="274" y="84"/>
                </a:cubicBezTo>
                <a:cubicBezTo>
                  <a:pt x="273" y="84"/>
                  <a:pt x="270" y="89"/>
                  <a:pt x="270" y="89"/>
                </a:cubicBezTo>
                <a:cubicBezTo>
                  <a:pt x="267" y="88"/>
                  <a:pt x="266" y="89"/>
                  <a:pt x="265" y="90"/>
                </a:cubicBezTo>
                <a:cubicBezTo>
                  <a:pt x="263" y="91"/>
                  <a:pt x="262" y="91"/>
                  <a:pt x="260" y="92"/>
                </a:cubicBezTo>
                <a:cubicBezTo>
                  <a:pt x="265" y="90"/>
                  <a:pt x="258" y="88"/>
                  <a:pt x="256" y="88"/>
                </a:cubicBezTo>
                <a:cubicBezTo>
                  <a:pt x="260" y="87"/>
                  <a:pt x="258" y="83"/>
                  <a:pt x="256" y="82"/>
                </a:cubicBezTo>
                <a:cubicBezTo>
                  <a:pt x="256" y="82"/>
                  <a:pt x="257" y="82"/>
                  <a:pt x="257" y="82"/>
                </a:cubicBezTo>
                <a:cubicBezTo>
                  <a:pt x="257" y="79"/>
                  <a:pt x="250" y="77"/>
                  <a:pt x="247" y="76"/>
                </a:cubicBezTo>
                <a:cubicBezTo>
                  <a:pt x="245" y="74"/>
                  <a:pt x="233" y="72"/>
                  <a:pt x="231" y="73"/>
                </a:cubicBezTo>
                <a:cubicBezTo>
                  <a:pt x="228" y="75"/>
                  <a:pt x="231" y="80"/>
                  <a:pt x="231" y="83"/>
                </a:cubicBezTo>
                <a:cubicBezTo>
                  <a:pt x="232" y="86"/>
                  <a:pt x="228" y="86"/>
                  <a:pt x="228" y="89"/>
                </a:cubicBezTo>
                <a:cubicBezTo>
                  <a:pt x="228" y="93"/>
                  <a:pt x="236" y="92"/>
                  <a:pt x="234" y="98"/>
                </a:cubicBezTo>
                <a:cubicBezTo>
                  <a:pt x="233" y="102"/>
                  <a:pt x="228" y="102"/>
                  <a:pt x="226" y="105"/>
                </a:cubicBezTo>
                <a:cubicBezTo>
                  <a:pt x="224" y="108"/>
                  <a:pt x="227" y="112"/>
                  <a:pt x="229" y="114"/>
                </a:cubicBezTo>
                <a:cubicBezTo>
                  <a:pt x="231" y="115"/>
                  <a:pt x="225" y="118"/>
                  <a:pt x="224" y="118"/>
                </a:cubicBezTo>
                <a:cubicBezTo>
                  <a:pt x="220" y="120"/>
                  <a:pt x="217" y="114"/>
                  <a:pt x="216" y="110"/>
                </a:cubicBezTo>
                <a:cubicBezTo>
                  <a:pt x="215" y="108"/>
                  <a:pt x="215" y="104"/>
                  <a:pt x="212" y="103"/>
                </a:cubicBezTo>
                <a:cubicBezTo>
                  <a:pt x="210" y="102"/>
                  <a:pt x="206" y="102"/>
                  <a:pt x="205" y="103"/>
                </a:cubicBezTo>
                <a:cubicBezTo>
                  <a:pt x="203" y="99"/>
                  <a:pt x="198" y="98"/>
                  <a:pt x="194" y="97"/>
                </a:cubicBezTo>
                <a:cubicBezTo>
                  <a:pt x="189" y="95"/>
                  <a:pt x="185" y="95"/>
                  <a:pt x="180" y="96"/>
                </a:cubicBezTo>
                <a:cubicBezTo>
                  <a:pt x="181" y="95"/>
                  <a:pt x="179" y="88"/>
                  <a:pt x="175" y="89"/>
                </a:cubicBezTo>
                <a:cubicBezTo>
                  <a:pt x="176" y="86"/>
                  <a:pt x="176" y="84"/>
                  <a:pt x="176" y="81"/>
                </a:cubicBezTo>
                <a:cubicBezTo>
                  <a:pt x="177" y="79"/>
                  <a:pt x="178" y="77"/>
                  <a:pt x="179" y="75"/>
                </a:cubicBezTo>
                <a:cubicBezTo>
                  <a:pt x="180" y="74"/>
                  <a:pt x="185" y="69"/>
                  <a:pt x="183" y="68"/>
                </a:cubicBezTo>
                <a:cubicBezTo>
                  <a:pt x="188" y="69"/>
                  <a:pt x="193" y="69"/>
                  <a:pt x="196" y="66"/>
                </a:cubicBezTo>
                <a:cubicBezTo>
                  <a:pt x="198" y="63"/>
                  <a:pt x="199" y="60"/>
                  <a:pt x="202" y="57"/>
                </a:cubicBezTo>
                <a:cubicBezTo>
                  <a:pt x="205" y="53"/>
                  <a:pt x="209" y="58"/>
                  <a:pt x="212" y="58"/>
                </a:cubicBezTo>
                <a:cubicBezTo>
                  <a:pt x="217" y="59"/>
                  <a:pt x="217" y="53"/>
                  <a:pt x="214" y="51"/>
                </a:cubicBezTo>
                <a:cubicBezTo>
                  <a:pt x="218" y="51"/>
                  <a:pt x="215" y="45"/>
                  <a:pt x="213" y="44"/>
                </a:cubicBezTo>
                <a:cubicBezTo>
                  <a:pt x="211" y="43"/>
                  <a:pt x="202" y="46"/>
                  <a:pt x="207" y="47"/>
                </a:cubicBezTo>
                <a:cubicBezTo>
                  <a:pt x="206" y="47"/>
                  <a:pt x="200" y="59"/>
                  <a:pt x="196" y="53"/>
                </a:cubicBezTo>
                <a:cubicBezTo>
                  <a:pt x="195" y="52"/>
                  <a:pt x="195" y="47"/>
                  <a:pt x="193" y="46"/>
                </a:cubicBezTo>
                <a:cubicBezTo>
                  <a:pt x="190" y="46"/>
                  <a:pt x="189" y="49"/>
                  <a:pt x="188" y="50"/>
                </a:cubicBezTo>
                <a:cubicBezTo>
                  <a:pt x="190" y="47"/>
                  <a:pt x="181" y="45"/>
                  <a:pt x="180" y="44"/>
                </a:cubicBezTo>
                <a:cubicBezTo>
                  <a:pt x="183" y="42"/>
                  <a:pt x="180" y="39"/>
                  <a:pt x="178" y="38"/>
                </a:cubicBezTo>
                <a:cubicBezTo>
                  <a:pt x="176" y="36"/>
                  <a:pt x="169" y="35"/>
                  <a:pt x="168" y="37"/>
                </a:cubicBezTo>
                <a:cubicBezTo>
                  <a:pt x="163" y="43"/>
                  <a:pt x="173" y="44"/>
                  <a:pt x="175" y="45"/>
                </a:cubicBezTo>
                <a:cubicBezTo>
                  <a:pt x="176" y="46"/>
                  <a:pt x="179" y="48"/>
                  <a:pt x="177" y="49"/>
                </a:cubicBezTo>
                <a:cubicBezTo>
                  <a:pt x="176" y="50"/>
                  <a:pt x="171" y="51"/>
                  <a:pt x="171" y="52"/>
                </a:cubicBezTo>
                <a:cubicBezTo>
                  <a:pt x="169" y="54"/>
                  <a:pt x="172" y="57"/>
                  <a:pt x="170" y="59"/>
                </a:cubicBezTo>
                <a:cubicBezTo>
                  <a:pt x="168" y="57"/>
                  <a:pt x="168" y="53"/>
                  <a:pt x="166" y="50"/>
                </a:cubicBezTo>
                <a:cubicBezTo>
                  <a:pt x="168" y="53"/>
                  <a:pt x="157" y="52"/>
                  <a:pt x="157" y="52"/>
                </a:cubicBezTo>
                <a:cubicBezTo>
                  <a:pt x="154" y="52"/>
                  <a:pt x="148" y="54"/>
                  <a:pt x="145" y="50"/>
                </a:cubicBezTo>
                <a:cubicBezTo>
                  <a:pt x="144" y="49"/>
                  <a:pt x="144" y="44"/>
                  <a:pt x="146" y="45"/>
                </a:cubicBezTo>
                <a:cubicBezTo>
                  <a:pt x="144" y="43"/>
                  <a:pt x="142" y="41"/>
                  <a:pt x="141" y="40"/>
                </a:cubicBezTo>
                <a:cubicBezTo>
                  <a:pt x="132" y="43"/>
                  <a:pt x="125" y="47"/>
                  <a:pt x="117" y="51"/>
                </a:cubicBezTo>
                <a:cubicBezTo>
                  <a:pt x="118" y="51"/>
                  <a:pt x="119" y="51"/>
                  <a:pt x="120" y="50"/>
                </a:cubicBezTo>
                <a:cubicBezTo>
                  <a:pt x="122" y="50"/>
                  <a:pt x="124" y="48"/>
                  <a:pt x="126" y="47"/>
                </a:cubicBezTo>
                <a:cubicBezTo>
                  <a:pt x="128" y="46"/>
                  <a:pt x="134" y="43"/>
                  <a:pt x="136" y="46"/>
                </a:cubicBezTo>
                <a:cubicBezTo>
                  <a:pt x="137" y="45"/>
                  <a:pt x="137" y="45"/>
                  <a:pt x="138" y="44"/>
                </a:cubicBezTo>
                <a:cubicBezTo>
                  <a:pt x="139" y="46"/>
                  <a:pt x="141" y="48"/>
                  <a:pt x="143" y="51"/>
                </a:cubicBezTo>
                <a:cubicBezTo>
                  <a:pt x="141" y="50"/>
                  <a:pt x="137" y="50"/>
                  <a:pt x="135" y="50"/>
                </a:cubicBezTo>
                <a:cubicBezTo>
                  <a:pt x="133" y="51"/>
                  <a:pt x="130" y="51"/>
                  <a:pt x="130" y="53"/>
                </a:cubicBezTo>
                <a:cubicBezTo>
                  <a:pt x="130" y="55"/>
                  <a:pt x="131" y="57"/>
                  <a:pt x="131" y="58"/>
                </a:cubicBezTo>
                <a:cubicBezTo>
                  <a:pt x="128" y="56"/>
                  <a:pt x="125" y="52"/>
                  <a:pt x="121" y="51"/>
                </a:cubicBezTo>
                <a:cubicBezTo>
                  <a:pt x="119" y="51"/>
                  <a:pt x="117" y="51"/>
                  <a:pt x="115" y="52"/>
                </a:cubicBezTo>
                <a:cubicBezTo>
                  <a:pt x="91" y="65"/>
                  <a:pt x="71" y="84"/>
                  <a:pt x="56" y="107"/>
                </a:cubicBezTo>
                <a:cubicBezTo>
                  <a:pt x="57" y="108"/>
                  <a:pt x="58" y="109"/>
                  <a:pt x="59" y="109"/>
                </a:cubicBezTo>
                <a:cubicBezTo>
                  <a:pt x="62" y="110"/>
                  <a:pt x="59" y="117"/>
                  <a:pt x="64" y="113"/>
                </a:cubicBezTo>
                <a:cubicBezTo>
                  <a:pt x="66" y="115"/>
                  <a:pt x="66" y="116"/>
                  <a:pt x="65" y="118"/>
                </a:cubicBezTo>
                <a:cubicBezTo>
                  <a:pt x="65" y="118"/>
                  <a:pt x="75" y="124"/>
                  <a:pt x="76" y="125"/>
                </a:cubicBezTo>
                <a:cubicBezTo>
                  <a:pt x="78" y="126"/>
                  <a:pt x="80" y="128"/>
                  <a:pt x="81" y="130"/>
                </a:cubicBezTo>
                <a:cubicBezTo>
                  <a:pt x="82" y="132"/>
                  <a:pt x="80" y="134"/>
                  <a:pt x="79" y="135"/>
                </a:cubicBezTo>
                <a:cubicBezTo>
                  <a:pt x="78" y="134"/>
                  <a:pt x="75" y="130"/>
                  <a:pt x="74" y="131"/>
                </a:cubicBezTo>
                <a:cubicBezTo>
                  <a:pt x="73" y="133"/>
                  <a:pt x="74" y="139"/>
                  <a:pt x="77" y="139"/>
                </a:cubicBezTo>
                <a:cubicBezTo>
                  <a:pt x="73" y="139"/>
                  <a:pt x="75" y="155"/>
                  <a:pt x="74" y="158"/>
                </a:cubicBezTo>
                <a:cubicBezTo>
                  <a:pt x="74" y="158"/>
                  <a:pt x="74" y="158"/>
                  <a:pt x="74" y="158"/>
                </a:cubicBezTo>
                <a:cubicBezTo>
                  <a:pt x="73" y="161"/>
                  <a:pt x="76" y="173"/>
                  <a:pt x="81" y="172"/>
                </a:cubicBezTo>
                <a:cubicBezTo>
                  <a:pt x="78" y="172"/>
                  <a:pt x="87" y="184"/>
                  <a:pt x="88" y="185"/>
                </a:cubicBezTo>
                <a:cubicBezTo>
                  <a:pt x="91" y="187"/>
                  <a:pt x="95" y="188"/>
                  <a:pt x="97" y="192"/>
                </a:cubicBezTo>
                <a:cubicBezTo>
                  <a:pt x="100" y="195"/>
                  <a:pt x="100" y="201"/>
                  <a:pt x="103" y="203"/>
                </a:cubicBezTo>
                <a:cubicBezTo>
                  <a:pt x="102" y="206"/>
                  <a:pt x="108" y="210"/>
                  <a:pt x="108" y="214"/>
                </a:cubicBezTo>
                <a:cubicBezTo>
                  <a:pt x="108" y="214"/>
                  <a:pt x="107" y="214"/>
                  <a:pt x="107" y="215"/>
                </a:cubicBezTo>
                <a:cubicBezTo>
                  <a:pt x="108" y="218"/>
                  <a:pt x="113" y="218"/>
                  <a:pt x="115" y="221"/>
                </a:cubicBezTo>
                <a:cubicBezTo>
                  <a:pt x="116" y="223"/>
                  <a:pt x="115" y="228"/>
                  <a:pt x="118" y="227"/>
                </a:cubicBezTo>
                <a:cubicBezTo>
                  <a:pt x="118" y="222"/>
                  <a:pt x="115" y="216"/>
                  <a:pt x="112" y="212"/>
                </a:cubicBezTo>
                <a:cubicBezTo>
                  <a:pt x="110" y="209"/>
                  <a:pt x="109" y="207"/>
                  <a:pt x="108" y="204"/>
                </a:cubicBezTo>
                <a:cubicBezTo>
                  <a:pt x="106" y="202"/>
                  <a:pt x="106" y="199"/>
                  <a:pt x="105" y="197"/>
                </a:cubicBezTo>
                <a:cubicBezTo>
                  <a:pt x="106" y="197"/>
                  <a:pt x="112" y="199"/>
                  <a:pt x="111" y="200"/>
                </a:cubicBezTo>
                <a:cubicBezTo>
                  <a:pt x="109" y="205"/>
                  <a:pt x="119" y="214"/>
                  <a:pt x="122" y="217"/>
                </a:cubicBezTo>
                <a:cubicBezTo>
                  <a:pt x="123" y="218"/>
                  <a:pt x="128" y="225"/>
                  <a:pt x="125" y="225"/>
                </a:cubicBezTo>
                <a:cubicBezTo>
                  <a:pt x="129" y="225"/>
                  <a:pt x="133" y="230"/>
                  <a:pt x="135" y="233"/>
                </a:cubicBezTo>
                <a:cubicBezTo>
                  <a:pt x="137" y="236"/>
                  <a:pt x="136" y="241"/>
                  <a:pt x="138" y="245"/>
                </a:cubicBezTo>
                <a:cubicBezTo>
                  <a:pt x="139" y="250"/>
                  <a:pt x="146" y="252"/>
                  <a:pt x="150" y="255"/>
                </a:cubicBezTo>
                <a:cubicBezTo>
                  <a:pt x="154" y="256"/>
                  <a:pt x="157" y="259"/>
                  <a:pt x="160" y="260"/>
                </a:cubicBezTo>
                <a:cubicBezTo>
                  <a:pt x="166" y="262"/>
                  <a:pt x="167" y="260"/>
                  <a:pt x="171" y="260"/>
                </a:cubicBezTo>
                <a:cubicBezTo>
                  <a:pt x="178" y="259"/>
                  <a:pt x="179" y="266"/>
                  <a:pt x="184" y="269"/>
                </a:cubicBezTo>
                <a:cubicBezTo>
                  <a:pt x="187" y="270"/>
                  <a:pt x="194" y="273"/>
                  <a:pt x="198" y="271"/>
                </a:cubicBezTo>
                <a:cubicBezTo>
                  <a:pt x="196" y="272"/>
                  <a:pt x="203" y="282"/>
                  <a:pt x="204" y="283"/>
                </a:cubicBezTo>
                <a:cubicBezTo>
                  <a:pt x="206" y="286"/>
                  <a:pt x="210" y="287"/>
                  <a:pt x="213" y="290"/>
                </a:cubicBezTo>
                <a:cubicBezTo>
                  <a:pt x="213" y="290"/>
                  <a:pt x="214" y="289"/>
                  <a:pt x="214" y="288"/>
                </a:cubicBezTo>
                <a:cubicBezTo>
                  <a:pt x="213" y="291"/>
                  <a:pt x="218" y="296"/>
                  <a:pt x="221" y="296"/>
                </a:cubicBezTo>
                <a:cubicBezTo>
                  <a:pt x="223" y="295"/>
                  <a:pt x="224" y="290"/>
                  <a:pt x="224" y="288"/>
                </a:cubicBezTo>
                <a:cubicBezTo>
                  <a:pt x="219" y="290"/>
                  <a:pt x="215" y="288"/>
                  <a:pt x="212" y="283"/>
                </a:cubicBezTo>
                <a:cubicBezTo>
                  <a:pt x="211" y="282"/>
                  <a:pt x="207" y="275"/>
                  <a:pt x="211" y="275"/>
                </a:cubicBezTo>
                <a:cubicBezTo>
                  <a:pt x="216" y="275"/>
                  <a:pt x="212" y="271"/>
                  <a:pt x="212" y="268"/>
                </a:cubicBezTo>
                <a:cubicBezTo>
                  <a:pt x="211" y="264"/>
                  <a:pt x="208" y="262"/>
                  <a:pt x="206" y="259"/>
                </a:cubicBezTo>
                <a:cubicBezTo>
                  <a:pt x="205" y="262"/>
                  <a:pt x="200" y="261"/>
                  <a:pt x="198" y="259"/>
                </a:cubicBezTo>
                <a:cubicBezTo>
                  <a:pt x="198" y="259"/>
                  <a:pt x="197" y="261"/>
                  <a:pt x="197" y="262"/>
                </a:cubicBezTo>
                <a:cubicBezTo>
                  <a:pt x="196" y="262"/>
                  <a:pt x="195" y="262"/>
                  <a:pt x="194" y="261"/>
                </a:cubicBezTo>
                <a:cubicBezTo>
                  <a:pt x="194" y="258"/>
                  <a:pt x="194" y="255"/>
                  <a:pt x="195" y="251"/>
                </a:cubicBezTo>
                <a:cubicBezTo>
                  <a:pt x="196" y="247"/>
                  <a:pt x="205" y="238"/>
                  <a:pt x="194" y="239"/>
                </a:cubicBezTo>
                <a:cubicBezTo>
                  <a:pt x="190" y="239"/>
                  <a:pt x="188" y="240"/>
                  <a:pt x="187" y="244"/>
                </a:cubicBezTo>
                <a:cubicBezTo>
                  <a:pt x="186" y="247"/>
                  <a:pt x="186" y="249"/>
                  <a:pt x="183" y="251"/>
                </a:cubicBezTo>
                <a:cubicBezTo>
                  <a:pt x="181" y="252"/>
                  <a:pt x="173" y="251"/>
                  <a:pt x="171" y="250"/>
                </a:cubicBezTo>
                <a:cubicBezTo>
                  <a:pt x="166" y="247"/>
                  <a:pt x="163" y="239"/>
                  <a:pt x="163" y="234"/>
                </a:cubicBezTo>
                <a:cubicBezTo>
                  <a:pt x="163" y="227"/>
                  <a:pt x="166" y="221"/>
                  <a:pt x="163" y="215"/>
                </a:cubicBezTo>
                <a:cubicBezTo>
                  <a:pt x="164" y="213"/>
                  <a:pt x="166" y="211"/>
                  <a:pt x="168" y="210"/>
                </a:cubicBezTo>
                <a:cubicBezTo>
                  <a:pt x="169" y="209"/>
                  <a:pt x="171" y="210"/>
                  <a:pt x="172" y="207"/>
                </a:cubicBezTo>
                <a:cubicBezTo>
                  <a:pt x="171" y="207"/>
                  <a:pt x="170" y="206"/>
                  <a:pt x="170" y="206"/>
                </a:cubicBezTo>
                <a:cubicBezTo>
                  <a:pt x="173" y="208"/>
                  <a:pt x="180" y="203"/>
                  <a:pt x="184" y="206"/>
                </a:cubicBezTo>
                <a:cubicBezTo>
                  <a:pt x="186" y="207"/>
                  <a:pt x="188" y="208"/>
                  <a:pt x="189" y="205"/>
                </a:cubicBezTo>
                <a:cubicBezTo>
                  <a:pt x="189" y="205"/>
                  <a:pt x="187" y="202"/>
                  <a:pt x="188" y="200"/>
                </a:cubicBezTo>
                <a:cubicBezTo>
                  <a:pt x="189" y="204"/>
                  <a:pt x="192" y="205"/>
                  <a:pt x="196" y="202"/>
                </a:cubicBezTo>
                <a:cubicBezTo>
                  <a:pt x="197" y="203"/>
                  <a:pt x="201" y="203"/>
                  <a:pt x="204" y="204"/>
                </a:cubicBezTo>
                <a:cubicBezTo>
                  <a:pt x="207" y="206"/>
                  <a:pt x="207" y="209"/>
                  <a:pt x="211" y="205"/>
                </a:cubicBezTo>
                <a:cubicBezTo>
                  <a:pt x="213" y="208"/>
                  <a:pt x="213" y="208"/>
                  <a:pt x="214" y="211"/>
                </a:cubicBezTo>
                <a:cubicBezTo>
                  <a:pt x="214" y="214"/>
                  <a:pt x="216" y="221"/>
                  <a:pt x="218" y="222"/>
                </a:cubicBezTo>
                <a:cubicBezTo>
                  <a:pt x="224" y="225"/>
                  <a:pt x="222" y="217"/>
                  <a:pt x="222" y="214"/>
                </a:cubicBezTo>
                <a:cubicBezTo>
                  <a:pt x="222" y="213"/>
                  <a:pt x="222" y="205"/>
                  <a:pt x="221" y="205"/>
                </a:cubicBezTo>
                <a:cubicBezTo>
                  <a:pt x="213" y="203"/>
                  <a:pt x="216" y="197"/>
                  <a:pt x="221" y="193"/>
                </a:cubicBezTo>
                <a:cubicBezTo>
                  <a:pt x="222" y="192"/>
                  <a:pt x="227" y="190"/>
                  <a:pt x="230" y="188"/>
                </a:cubicBezTo>
                <a:cubicBezTo>
                  <a:pt x="232" y="186"/>
                  <a:pt x="235" y="183"/>
                  <a:pt x="234" y="179"/>
                </a:cubicBezTo>
                <a:cubicBezTo>
                  <a:pt x="235" y="179"/>
                  <a:pt x="236" y="178"/>
                  <a:pt x="236" y="177"/>
                </a:cubicBezTo>
                <a:cubicBezTo>
                  <a:pt x="236" y="177"/>
                  <a:pt x="233" y="174"/>
                  <a:pt x="232" y="175"/>
                </a:cubicBezTo>
                <a:cubicBezTo>
                  <a:pt x="234" y="174"/>
                  <a:pt x="234" y="172"/>
                  <a:pt x="233" y="171"/>
                </a:cubicBezTo>
                <a:cubicBezTo>
                  <a:pt x="235" y="169"/>
                  <a:pt x="234" y="166"/>
                  <a:pt x="236" y="165"/>
                </a:cubicBezTo>
                <a:cubicBezTo>
                  <a:pt x="239" y="169"/>
                  <a:pt x="245" y="165"/>
                  <a:pt x="242" y="162"/>
                </a:cubicBezTo>
                <a:cubicBezTo>
                  <a:pt x="244" y="158"/>
                  <a:pt x="250" y="160"/>
                  <a:pt x="252" y="157"/>
                </a:cubicBezTo>
                <a:cubicBezTo>
                  <a:pt x="255" y="158"/>
                  <a:pt x="253" y="153"/>
                  <a:pt x="255" y="150"/>
                </a:cubicBezTo>
                <a:cubicBezTo>
                  <a:pt x="256" y="148"/>
                  <a:pt x="259" y="148"/>
                  <a:pt x="262" y="147"/>
                </a:cubicBezTo>
                <a:cubicBezTo>
                  <a:pt x="262" y="147"/>
                  <a:pt x="268" y="143"/>
                  <a:pt x="266" y="143"/>
                </a:cubicBezTo>
                <a:cubicBezTo>
                  <a:pt x="270" y="144"/>
                  <a:pt x="279" y="139"/>
                  <a:pt x="272" y="135"/>
                </a:cubicBezTo>
                <a:cubicBezTo>
                  <a:pt x="273" y="133"/>
                  <a:pt x="270" y="132"/>
                  <a:pt x="268" y="132"/>
                </a:cubicBezTo>
                <a:cubicBezTo>
                  <a:pt x="269" y="131"/>
                  <a:pt x="272" y="132"/>
                  <a:pt x="273" y="131"/>
                </a:cubicBezTo>
                <a:cubicBezTo>
                  <a:pt x="276" y="129"/>
                  <a:pt x="274" y="128"/>
                  <a:pt x="271" y="127"/>
                </a:cubicBezTo>
                <a:cubicBezTo>
                  <a:pt x="268" y="126"/>
                  <a:pt x="263" y="128"/>
                  <a:pt x="261" y="130"/>
                </a:cubicBezTo>
                <a:cubicBezTo>
                  <a:pt x="259" y="132"/>
                  <a:pt x="257" y="134"/>
                  <a:pt x="255" y="135"/>
                </a:cubicBezTo>
                <a:close/>
                <a:moveTo>
                  <a:pt x="308" y="302"/>
                </a:moveTo>
                <a:cubicBezTo>
                  <a:pt x="306" y="301"/>
                  <a:pt x="303" y="301"/>
                  <a:pt x="301" y="300"/>
                </a:cubicBezTo>
                <a:cubicBezTo>
                  <a:pt x="299" y="300"/>
                  <a:pt x="298" y="299"/>
                  <a:pt x="295" y="298"/>
                </a:cubicBezTo>
                <a:cubicBezTo>
                  <a:pt x="296" y="293"/>
                  <a:pt x="290" y="292"/>
                  <a:pt x="287" y="289"/>
                </a:cubicBezTo>
                <a:cubicBezTo>
                  <a:pt x="284" y="287"/>
                  <a:pt x="282" y="284"/>
                  <a:pt x="277" y="285"/>
                </a:cubicBezTo>
                <a:cubicBezTo>
                  <a:pt x="276" y="285"/>
                  <a:pt x="271" y="287"/>
                  <a:pt x="272" y="288"/>
                </a:cubicBezTo>
                <a:cubicBezTo>
                  <a:pt x="269" y="285"/>
                  <a:pt x="268" y="284"/>
                  <a:pt x="263" y="282"/>
                </a:cubicBezTo>
                <a:cubicBezTo>
                  <a:pt x="259" y="281"/>
                  <a:pt x="257" y="276"/>
                  <a:pt x="253" y="281"/>
                </a:cubicBezTo>
                <a:cubicBezTo>
                  <a:pt x="251" y="283"/>
                  <a:pt x="252" y="286"/>
                  <a:pt x="251" y="288"/>
                </a:cubicBezTo>
                <a:cubicBezTo>
                  <a:pt x="247" y="285"/>
                  <a:pt x="254" y="282"/>
                  <a:pt x="251" y="279"/>
                </a:cubicBezTo>
                <a:cubicBezTo>
                  <a:pt x="248" y="275"/>
                  <a:pt x="243" y="281"/>
                  <a:pt x="240" y="282"/>
                </a:cubicBezTo>
                <a:cubicBezTo>
                  <a:pt x="239" y="284"/>
                  <a:pt x="237" y="284"/>
                  <a:pt x="236" y="286"/>
                </a:cubicBezTo>
                <a:cubicBezTo>
                  <a:pt x="235" y="287"/>
                  <a:pt x="234" y="290"/>
                  <a:pt x="233" y="291"/>
                </a:cubicBezTo>
                <a:cubicBezTo>
                  <a:pt x="233" y="289"/>
                  <a:pt x="228" y="290"/>
                  <a:pt x="228" y="288"/>
                </a:cubicBezTo>
                <a:cubicBezTo>
                  <a:pt x="229" y="294"/>
                  <a:pt x="229" y="301"/>
                  <a:pt x="230" y="307"/>
                </a:cubicBezTo>
                <a:cubicBezTo>
                  <a:pt x="231" y="310"/>
                  <a:pt x="230" y="316"/>
                  <a:pt x="227" y="319"/>
                </a:cubicBezTo>
                <a:cubicBezTo>
                  <a:pt x="224" y="321"/>
                  <a:pt x="221" y="324"/>
                  <a:pt x="220" y="329"/>
                </a:cubicBezTo>
                <a:cubicBezTo>
                  <a:pt x="220" y="332"/>
                  <a:pt x="220" y="334"/>
                  <a:pt x="223" y="335"/>
                </a:cubicBezTo>
                <a:cubicBezTo>
                  <a:pt x="223" y="339"/>
                  <a:pt x="219" y="342"/>
                  <a:pt x="219" y="346"/>
                </a:cubicBezTo>
                <a:cubicBezTo>
                  <a:pt x="219" y="346"/>
                  <a:pt x="220" y="348"/>
                  <a:pt x="220" y="350"/>
                </a:cubicBezTo>
                <a:cubicBezTo>
                  <a:pt x="254" y="344"/>
                  <a:pt x="285" y="327"/>
                  <a:pt x="308" y="302"/>
                </a:cubicBezTo>
                <a:close/>
              </a:path>
            </a:pathLst>
          </a:custGeom>
          <a:solidFill>
            <a:srgbClr val="333333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609" y="787453"/>
            <a:ext cx="6185535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641477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</a:t>
            </a:r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ề xuất ứng dụng thực tiễn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4300" y="991235"/>
            <a:ext cx="5982335" cy="699135"/>
          </a:xfrm>
          <a:prstGeom prst="rect">
            <a:avLst/>
          </a:prstGeom>
        </p:spPr>
        <p:txBody>
          <a:bodyPr wrap="square">
            <a:noAutofit/>
          </a:bodyPr>
          <a:p>
            <a:pPr algn="ctr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Ng</a:t>
            </a:r>
            <a:r>
              <a:rPr lang="" altLang="en-US" sz="24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ời Tìm Việc và Sinh viên</a:t>
            </a:r>
            <a:endParaRPr lang="vi-VN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4300" y="1763395"/>
            <a:ext cx="5982335" cy="44043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l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ịnh h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ớng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ầu t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Kỹ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ng: Cấp bậc, Chức danh, Python, SQL là trọng tâm.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l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ng Lợi thế Cạnh tranh: Học các bộ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ôi kỹ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ng t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ơng quan.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l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Chiến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ợc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àm phán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ơng: Xác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ịnh mức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ơng mục tiêu hợp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ý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l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ịnh h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ớng Lộ trình: Hiểu r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õ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tầm quan trọng của Cấp bậc thâm niên.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096635" y="991235"/>
            <a:ext cx="5982335" cy="698500"/>
          </a:xfrm>
          <a:prstGeom prst="rect">
            <a:avLst/>
          </a:prstGeom>
        </p:spPr>
        <p:txBody>
          <a:bodyPr wrap="square">
            <a:noAutofit/>
          </a:bodyPr>
          <a:p>
            <a:pPr algn="ctr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Doanh nghiệp và Bộ phận Tuyển dụng</a:t>
            </a:r>
            <a:endParaRPr lang="vi-VN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6096635" y="1536065"/>
            <a:ext cx="0" cy="491363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/>
        </p:nvSpPr>
        <p:spPr>
          <a:xfrm>
            <a:off x="6209665" y="1689735"/>
            <a:ext cx="5869305" cy="44780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Xác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ịnh Thang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ơng Cạnh tranh: Thiết lập Thang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ơng Tiêu chuẩn (Benchmark).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Tối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u hóa Mô tả Công việc (JD): Yêu cầu các kỹ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ng thực sự cần thiết.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Nâng cao Chất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ợng Tuyển dụng: Giảm thời gian tuyển dụng và t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ng chất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ợng hồ sơ.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Quản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ý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Tài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ng: Xác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ịnh kỹ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ng trả l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ơng cao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ể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ầu t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ào tạo.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3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872609" y="787453"/>
            <a:ext cx="3945255" cy="0"/>
          </a:xfrm>
          <a:prstGeom prst="line">
            <a:avLst/>
          </a:prstGeom>
          <a:ln w="635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02870"/>
            <a:ext cx="684530" cy="68453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872490" y="142240"/>
            <a:ext cx="641477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H</a:t>
            </a:r>
            <a:r>
              <a:rPr lang="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ư</a:t>
            </a:r>
            <a:r>
              <a:rPr lang="en-US" altLang="en-US" sz="36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ớng phát triển</a:t>
            </a:r>
            <a:endParaRPr lang="en-US" altLang="en-US" sz="36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4300" y="991235"/>
            <a:ext cx="7172325" cy="5600700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Cải tiến Dữ liệu</a:t>
            </a:r>
            <a:r>
              <a:rPr lang="vi-VN" altLang="en-US" sz="20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Tích hợp Dữ liệu Thời gian và Chi phí Sinh hoạt (CoL Index).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p dụng Phân tích NLP nâng cao (BERT) cho mô tả công việc.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None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Nâng cao Kỹ thuật</a:t>
            </a:r>
            <a:r>
              <a:rPr lang="vi-VN" altLang="en-US" sz="20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Tối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u hóa Tham số chuyên sâu (ví dụ: Optuna).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Thử nghiệm Mô hình Học Sâu (Deep Learning).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None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Phát triển</a:t>
            </a:r>
            <a:r>
              <a:rPr lang="vi-VN" altLang="en-US" sz="20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Xây dựng Ứng dụng Web T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ơng tác (dự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oán thời gian thực).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 fontAlgn="base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Tích hợp Hệ thống Khuyến nghị kỹ n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7195185" y="-130175"/>
            <a:ext cx="4996815" cy="7061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135026" y="2203361"/>
            <a:ext cx="4904253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Thank you for listening</a:t>
            </a:r>
            <a:endParaRPr lang="zh-CN" altLang="en-US" sz="5400" b="1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7" name="直接连接符 6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>
            <a:off x="5689153" y="4071428"/>
            <a:ext cx="5796000" cy="2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809" y="1728241"/>
            <a:ext cx="3924981" cy="35627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30.7207086614173,&quot;left&quot;:543.6169291338582,&quot;top&quot;:101.12771653543307,&quot;width&quot;:354.4854330708661}"/>
</p:tagLst>
</file>

<file path=ppt/tags/tag2.xml><?xml version="1.0" encoding="utf-8"?>
<p:tagLst xmlns:p="http://schemas.openxmlformats.org/presentationml/2006/main">
  <p:tag name="KSO_WM_DIAGRAM_VIRTUALLY_FRAME" val="{&quot;height&quot;:426.0641732283464,&quot;left&quot;:406.7,&quot;top&quot;:69.05,&quot;width&quot;:517.9}"/>
</p:tagLst>
</file>

<file path=ppt/tags/tag3.xml><?xml version="1.0" encoding="utf-8"?>
<p:tagLst xmlns:p="http://schemas.openxmlformats.org/presentationml/2006/main">
  <p:tag name="KSO_WM_DIAGRAM_VIRTUALLY_FRAME" val="{&quot;height&quot;:426.0641732283464,&quot;left&quot;:406.7,&quot;top&quot;:69.05,&quot;width&quot;:517.9}"/>
</p:tagLst>
</file>

<file path=ppt/tags/tag4.xml><?xml version="1.0" encoding="utf-8"?>
<p:tagLst xmlns:p="http://schemas.openxmlformats.org/presentationml/2006/main">
  <p:tag name="KSO_WM_DIAGRAM_VIRTUALLY_FRAME" val="{&quot;height&quot;:426.0641732283464,&quot;left&quot;:406.7,&quot;top&quot;:69.05,&quot;width&quot;:517.9}"/>
</p:tagLst>
</file>

<file path=ppt/tags/tag5.xml><?xml version="1.0" encoding="utf-8"?>
<p:tagLst xmlns:p="http://schemas.openxmlformats.org/presentationml/2006/main">
  <p:tag name="KSO_WM_DIAGRAM_VIRTUALLY_FRAME" val="{&quot;height&quot;:426.0641732283464,&quot;left&quot;:406.7,&quot;top&quot;:69.05,&quot;width&quot;:517.9}"/>
</p:tagLst>
</file>

<file path=ppt/tags/tag6.xml><?xml version="1.0" encoding="utf-8"?>
<p:tagLst xmlns:p="http://schemas.openxmlformats.org/presentationml/2006/main">
  <p:tag name="KSO_WM_DIAGRAM_VIRTUALLY_FRAME" val="{&quot;height&quot;:426.0641732283464,&quot;left&quot;:406.7,&quot;top&quot;:69.05,&quot;width&quot;:517.9}"/>
</p:tagLst>
</file>

<file path=ppt/tags/tag7.xml><?xml version="1.0" encoding="utf-8"?>
<p:tagLst xmlns:p="http://schemas.openxmlformats.org/presentationml/2006/main">
  <p:tag name="KSO_WM_DIAGRAM_VIRTUALLY_FRAME" val="{&quot;height&quot;:426.0641732283464,&quot;left&quot;:406.7,&quot;top&quot;:69.05,&quot;width&quot;:517.9}"/>
</p:tagLst>
</file>

<file path=ppt/tags/tag8.xml><?xml version="1.0" encoding="utf-8"?>
<p:tagLst xmlns:p="http://schemas.openxmlformats.org/presentationml/2006/main">
  <p:tag name="KSO_WM_DIAGRAM_VIRTUALLY_FRAME" val="{&quot;height&quot;:426.0641732283464,&quot;left&quot;:406.7,&quot;top&quot;:69.05,&quot;width&quot;:517.9}"/>
</p:tagLst>
</file>

<file path=ppt/tags/tag9.xml><?xml version="1.0" encoding="utf-8"?>
<p:tagLst xmlns:p="http://schemas.openxmlformats.org/presentationml/2006/main">
  <p:tag name="KSO_WM_DIAGRAM_VIRTUALLY_FRAME" val="{&quot;height&quot;:426.0641732283464,&quot;left&quot;:406.7,&quot;top&quot;:69.05,&quot;width&quot;:517.9}"/>
</p:tagLst>
</file>

<file path=ppt/tags/tag10.xml><?xml version="1.0" encoding="utf-8"?>
<p:tagLst xmlns:p="http://schemas.openxmlformats.org/presentationml/2006/main">
  <p:tag name="KSO_WM_DIAGRAM_VIRTUALLY_FRAME" val="{&quot;height&quot;:426.0641732283464,&quot;left&quot;:406.7,&quot;top&quot;:69.05,&quot;width&quot;:517.9}"/>
</p:tagLst>
</file>

<file path=ppt/tags/tag11.xml><?xml version="1.0" encoding="utf-8"?>
<p:tagLst xmlns:p="http://schemas.openxmlformats.org/presentationml/2006/main">
  <p:tag name="KSO_WM_DIAGRAM_VIRTUALLY_FRAME" val="{&quot;height&quot;:426.0641732283464,&quot;left&quot;:406.7,&quot;top&quot;:69.05,&quot;width&quot;:517.9}"/>
</p:tagLst>
</file>

<file path=ppt/tags/tag12.xml><?xml version="1.0" encoding="utf-8"?>
<p:tagLst xmlns:p="http://schemas.openxmlformats.org/presentationml/2006/main">
  <p:tag name="KSO_WM_DIAGRAM_VIRTUALLY_FRAME" val="{&quot;height&quot;:426.0641732283464,&quot;left&quot;:406.7,&quot;top&quot;:69.05,&quot;width&quot;:517.9}"/>
</p:tagLst>
</file>

<file path=ppt/tags/tag13.xml><?xml version="1.0" encoding="utf-8"?>
<p:tagLst xmlns:p="http://schemas.openxmlformats.org/presentationml/2006/main">
  <p:tag name="KSO_WM_DIAGRAM_VIRTUALLY_FRAME" val="{&quot;height&quot;:426.0641732283464,&quot;left&quot;:406.7,&quot;top&quot;:69.05,&quot;width&quot;:517.9}"/>
</p:tagLst>
</file>

<file path=ppt/tags/tag14.xml><?xml version="1.0" encoding="utf-8"?>
<p:tagLst xmlns:p="http://schemas.openxmlformats.org/presentationml/2006/main">
  <p:tag name="KSO_WM_DIAGRAM_VIRTUALLY_FRAME" val="{&quot;height&quot;:426.0641732283464,&quot;left&quot;:406.7,&quot;top&quot;:69.05,&quot;width&quot;:517.9}"/>
</p:tagLst>
</file>

<file path=ppt/tags/tag15.xml><?xml version="1.0" encoding="utf-8"?>
<p:tagLst xmlns:p="http://schemas.openxmlformats.org/presentationml/2006/main">
  <p:tag name="KSO_WM_DIAGRAM_VIRTUALLY_FRAME" val="{&quot;height&quot;:426.0641732283464,&quot;left&quot;:406.7,&quot;top&quot;:69.05,&quot;width&quot;:517.9}"/>
</p:tagLst>
</file>

<file path=ppt/tags/tag16.xml><?xml version="1.0" encoding="utf-8"?>
<p:tagLst xmlns:p="http://schemas.openxmlformats.org/presentationml/2006/main">
  <p:tag name="KSO_WM_DIAGRAM_VIRTUALLY_FRAME" val="{&quot;height&quot;:426.0641732283464,&quot;left&quot;:406.7,&quot;top&quot;:69.05,&quot;width&quot;:517.9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Arial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Arial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Arial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Arial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Arial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Arial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7791</Words>
  <Application>WPS Presentation</Application>
  <PresentationFormat>宽屏</PresentationFormat>
  <Paragraphs>239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Arial</vt:lpstr>
      <vt:lpstr>SimSun</vt:lpstr>
      <vt:lpstr>Wingdings</vt:lpstr>
      <vt:lpstr>Microsoft YaHei</vt:lpstr>
      <vt:lpstr>Arial Unicode MS</vt:lpstr>
      <vt:lpstr>Calibri</vt:lpstr>
      <vt:lpstr>Calibri</vt:lpstr>
      <vt:lpstr>Times New Roman</vt:lpstr>
      <vt:lpstr>Agency FB</vt:lpstr>
      <vt:lpstr>Arial Narrow</vt:lpstr>
      <vt:lpstr>Times New Roman</vt:lpstr>
      <vt:lpstr>Segoe UI</vt:lpstr>
      <vt:lpstr>Wingdings</vt:lpstr>
      <vt:lpstr>Wingdings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Baoduy LK</cp:lastModifiedBy>
  <cp:revision>59</cp:revision>
  <dcterms:created xsi:type="dcterms:W3CDTF">2018-03-19T03:11:00Z</dcterms:created>
  <dcterms:modified xsi:type="dcterms:W3CDTF">2025-12-09T10:23:58Z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1033-12.2.0.23155</vt:lpwstr>
  </property>
  <property fmtid="{D5CDD505-2E9C-101B-9397-08002B2CF9AE}" pid="3" name="ICV">
    <vt:lpwstr>A985167C5D92406EA6155CA70C06D9A5_11</vt:lpwstr>
  </property>
</Properties>
</file>